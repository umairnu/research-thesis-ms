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89" r:id="rId4"/>
    <p:sldId id="261" r:id="rId5"/>
    <p:sldId id="379" r:id="rId6"/>
    <p:sldId id="258" r:id="rId7"/>
    <p:sldId id="380" r:id="rId8"/>
    <p:sldId id="381" r:id="rId9"/>
    <p:sldId id="382" r:id="rId10"/>
    <p:sldId id="292" r:id="rId11"/>
    <p:sldId id="383" r:id="rId12"/>
    <p:sldId id="384" r:id="rId13"/>
    <p:sldId id="385" r:id="rId14"/>
    <p:sldId id="273" r:id="rId15"/>
    <p:sldId id="264" r:id="rId16"/>
    <p:sldId id="260" r:id="rId17"/>
    <p:sldId id="265" r:id="rId18"/>
    <p:sldId id="275" r:id="rId19"/>
    <p:sldId id="302" r:id="rId20"/>
    <p:sldId id="316" r:id="rId21"/>
    <p:sldId id="371" r:id="rId22"/>
    <p:sldId id="325" r:id="rId23"/>
    <p:sldId id="309" r:id="rId24"/>
    <p:sldId id="314" r:id="rId25"/>
    <p:sldId id="285" r:id="rId26"/>
    <p:sldId id="378" r:id="rId27"/>
    <p:sldId id="369" r:id="rId28"/>
    <p:sldId id="377" r:id="rId29"/>
    <p:sldId id="288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erva Jafar" initials="FJ" lastIdx="3" clrIdx="0">
    <p:extLst>
      <p:ext uri="{19B8F6BF-5375-455C-9EA6-DF929625EA0E}">
        <p15:presenceInfo xmlns:p15="http://schemas.microsoft.com/office/powerpoint/2012/main" userId="S::ferva.jafar@systemsltd.com::c3db29f3-5d5d-4bf8-ad1e-eb30b426936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2B2B"/>
    <a:srgbClr val="2E824A"/>
    <a:srgbClr val="275299"/>
    <a:srgbClr val="074BB9"/>
    <a:srgbClr val="287188"/>
    <a:srgbClr val="E0DD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084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F4E348-7CA5-4B80-8451-230166B7F94A}" type="datetimeFigureOut">
              <a:rPr lang="en-PK" smtClean="0"/>
              <a:t>10/07/2026</a:t>
            </a:fld>
            <a:endParaRPr lang="en-P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A2B93-654B-48AD-A8BE-B89FC6C1D18A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79515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2F68C69-C7CA-4491-B1BF-1A702086AF95}" type="datetime1">
              <a:rPr lang="en-US" smtClean="0"/>
              <a:t>10/7/2026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275A9-AE18-467C-9830-753713F0CBD0}" type="datetime1">
              <a:rPr lang="en-US" smtClean="0"/>
              <a:t>10/7/2026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E59239D-FB3F-4AF2-99DC-A2B5190FBC61}" type="datetime1">
              <a:rPr lang="en-US" smtClean="0"/>
              <a:t>10/7/2026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ACBA5-713C-4DE3-9047-BC5DEF2DDD77}" type="datetime1">
              <a:rPr lang="en-US" smtClean="0"/>
              <a:t>10/7/2026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DC681-66A8-4D2A-9CB9-871F69728938}" type="datetime1">
              <a:rPr lang="en-US" smtClean="0"/>
              <a:t>10/7/2026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C3F43-77B5-45E9-B703-1D048099E352}" type="datetime1">
              <a:rPr lang="en-US" smtClean="0"/>
              <a:t>10/7/2026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74D45-631B-4CFD-9312-E5D8A819090C}" type="datetime1">
              <a:rPr lang="en-US" smtClean="0"/>
              <a:t>10/7/2026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A2117B5-CCDD-496B-B77B-B14C72CB8479}" type="datetime1">
              <a:rPr lang="en-US" smtClean="0"/>
              <a:t>10/7/2026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CF98F52-B2AA-42AF-980B-D9BF9BCC2F89}" type="datetime1">
              <a:rPr lang="en-US" smtClean="0"/>
              <a:t>10/7/2026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AD3AE-64A6-4CC3-80CF-6675B2073659}" type="datetime1">
              <a:rPr lang="en-US" smtClean="0"/>
              <a:t>10/7/2026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26D4D-987A-450D-9AE9-98AAE1A20448}" type="datetime1">
              <a:rPr lang="en-US" smtClean="0"/>
              <a:t>10/7/2026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3F34D406-B9EC-4E27-8157-22870124B96A}" type="datetime1">
              <a:rPr lang="en-US" smtClean="0"/>
              <a:t>10/7/2026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../thesis%20data.xlsx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1588" y="1272986"/>
            <a:ext cx="8828815" cy="1995116"/>
          </a:xfrm>
        </p:spPr>
        <p:txBody>
          <a:bodyPr/>
          <a:lstStyle/>
          <a:p>
            <a:r>
              <a:rPr lang="en-US" sz="2800" b="1" cap="none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 Generalized </a:t>
            </a:r>
            <a:r>
              <a:rPr lang="en-US" sz="2800" b="1" cap="none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TanhExp</a:t>
            </a:r>
            <a:r>
              <a:rPr lang="en-US" sz="2800" b="1" cap="none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Activation Function with a Variable Exponential Base for Deep Neural Networks</a:t>
            </a:r>
            <a:br>
              <a:rPr lang="en-US" sz="2800" b="1" cap="none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PK" sz="2400" dirty="0">
              <a:latin typeface="Sitka Heading Semibold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663FB-9FD4-41FC-98FD-0DC33FA95C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0158" y="4876960"/>
            <a:ext cx="6831673" cy="897307"/>
          </a:xfrm>
        </p:spPr>
        <p:txBody>
          <a:bodyPr>
            <a:normAutofit fontScale="92500" lnSpcReduction="20000"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by:Muhammad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Umair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Arif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(20242-35517)</a:t>
            </a:r>
            <a:endParaRPr lang="en-US" sz="1400" i="1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by:Dr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Faiza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RubabYousuf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i="1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(Assistant Professor CCSIS, </a:t>
            </a:r>
            <a:r>
              <a:rPr lang="en-US" sz="1400" i="1" dirty="0" err="1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IoBM</a:t>
            </a:r>
            <a:r>
              <a:rPr lang="en-US" sz="1400" i="1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endParaRPr lang="en-US" sz="1400" i="1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Co-Supervised by: Dr. Urooj Yousuf </a:t>
            </a:r>
            <a:r>
              <a:rPr lang="en-US" sz="1400" i="1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(Assistant Professor CCSIS, IoBM)</a:t>
            </a:r>
          </a:p>
          <a:p>
            <a:endParaRPr lang="en-PK" sz="1400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510550" y="3285100"/>
            <a:ext cx="9170893" cy="7875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4195" marR="633730" indent="671830"/>
            <a:r>
              <a:rPr lang="en-US" sz="16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DEPARTMENT OF MATHEMATICS AND STATISTICS 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544195" marR="633730" indent="671830">
              <a:spcAft>
                <a:spcPts val="0"/>
              </a:spcAft>
            </a:pPr>
            <a:r>
              <a:rPr lang="en-US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COLLEGE OF COMPUTER SCIENCE &amp;</a:t>
            </a:r>
            <a:r>
              <a:rPr lang="en-US" sz="1600" b="1" spc="-5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INFORMATION SYSTEMS</a:t>
            </a:r>
            <a:r>
              <a:rPr lang="en-US" sz="1600" b="1" spc="-7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(CCSIS)</a:t>
            </a:r>
          </a:p>
          <a:p>
            <a:pPr marL="544195" marR="633730" indent="671830">
              <a:spcAft>
                <a:spcPts val="0"/>
              </a:spcAft>
            </a:pPr>
            <a:endParaRPr lang="en-PK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INSTITUTE</a:t>
            </a:r>
            <a:r>
              <a:rPr lang="en-US" sz="1600" b="1" spc="-5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n-US" sz="1600" b="1" spc="-5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BUSINESS</a:t>
            </a:r>
            <a:r>
              <a:rPr lang="en-US" sz="1600" b="1" spc="-6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MANAGEMENT</a:t>
            </a:r>
            <a:r>
              <a:rPr lang="en-US" sz="1600" b="1" spc="-4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(IOBM) </a:t>
            </a:r>
            <a:endParaRPr lang="en-PK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166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31887" y="720319"/>
            <a:ext cx="5247972" cy="421354"/>
          </a:xfrm>
        </p:spPr>
        <p:txBody>
          <a:bodyPr/>
          <a:lstStyle/>
          <a:p>
            <a:r>
              <a:rPr lang="en-US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Presentation Outline</a:t>
            </a:r>
            <a:endParaRPr lang="en-PK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344705" y="1668701"/>
            <a:ext cx="4086225" cy="38261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15645" marR="633730" indent="-171450" algn="l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715645" marR="633730" indent="-1714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715645" marR="633730" indent="-1714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marL="715645" marR="633730" indent="-171450" algn="l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Study</a:t>
            </a:r>
          </a:p>
          <a:p>
            <a:pPr marL="715645" marR="633730" indent="-171450" algn="l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Questions</a:t>
            </a:r>
          </a:p>
          <a:p>
            <a:pPr marL="715645" marR="633730" indent="-171450" algn="l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 marL="544195" marR="633730" indent="671830">
              <a:lnSpc>
                <a:spcPct val="150000"/>
              </a:lnSpc>
              <a:spcAft>
                <a:spcPts val="0"/>
              </a:spcAft>
            </a:pPr>
            <a:endParaRPr lang="en-PK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319064AD-565C-4CF8-9AB5-D223BAAE0B13}"/>
              </a:ext>
            </a:extLst>
          </p:cNvPr>
          <p:cNvSpPr txBox="1">
            <a:spLocks/>
          </p:cNvSpPr>
          <p:nvPr/>
        </p:nvSpPr>
        <p:spPr>
          <a:xfrm>
            <a:off x="6464264" y="1668701"/>
            <a:ext cx="4086225" cy="338585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15645" marR="633730" indent="-171450" algn="l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&amp; Discussion</a:t>
            </a:r>
          </a:p>
          <a:p>
            <a:pPr marL="715645" marR="633730" indent="-171450" algn="l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Contribution of the Study</a:t>
            </a:r>
          </a:p>
          <a:p>
            <a:pPr marL="715645" marR="633730" indent="-171450" algn="l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</a:t>
            </a:r>
          </a:p>
          <a:p>
            <a:pPr marL="715645" marR="633730" indent="-171450" algn="l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</a:p>
          <a:p>
            <a:pPr marL="715645" marR="633730" indent="-171450" algn="l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  <a:p>
            <a:pPr marL="715645" marR="633730" indent="-171450" algn="l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Suggestion</a:t>
            </a:r>
          </a:p>
          <a:p>
            <a:pPr marL="544195" marR="633730" indent="671830">
              <a:lnSpc>
                <a:spcPct val="150000"/>
              </a:lnSpc>
              <a:spcAft>
                <a:spcPts val="0"/>
              </a:spcAft>
            </a:pPr>
            <a:endParaRPr lang="en-US" sz="1200" dirty="0"/>
          </a:p>
          <a:p>
            <a:pPr marL="544195" marR="633730" indent="671830">
              <a:lnSpc>
                <a:spcPct val="150000"/>
              </a:lnSpc>
              <a:spcAft>
                <a:spcPts val="0"/>
              </a:spcAft>
            </a:pPr>
            <a:endParaRPr lang="en-PK" sz="12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4868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98334" y="3007646"/>
            <a:ext cx="5395331" cy="421354"/>
          </a:xfrm>
        </p:spPr>
        <p:txBody>
          <a:bodyPr/>
          <a:lstStyle/>
          <a:p>
            <a:r>
              <a:rPr lang="en-US" sz="4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Introduction and </a:t>
            </a:r>
            <a:r>
              <a:rPr lang="en-US" sz="4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Backbround</a:t>
            </a:r>
            <a:endParaRPr lang="en-PK" sz="4000" dirty="0">
              <a:latin typeface="Sitka Heading Semibold" pitchFamily="2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371600" y="1614767"/>
            <a:ext cx="5074843" cy="37524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4195" marR="633730" indent="671830">
              <a:spcAft>
                <a:spcPts val="0"/>
              </a:spcAft>
            </a:pPr>
            <a:endParaRPr lang="en-PK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717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35714" y="1144257"/>
            <a:ext cx="5395331" cy="421354"/>
          </a:xfrm>
        </p:spPr>
        <p:txBody>
          <a:bodyPr/>
          <a:lstStyle/>
          <a:p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Background </a:t>
            </a:r>
            <a:br>
              <a:rPr lang="en-PK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PK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A4B9FF-01DA-1828-B066-B39533578928}"/>
              </a:ext>
            </a:extLst>
          </p:cNvPr>
          <p:cNvSpPr txBox="1"/>
          <p:nvPr/>
        </p:nvSpPr>
        <p:spPr>
          <a:xfrm>
            <a:off x="1420448" y="1859339"/>
            <a:ext cx="617363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Networks are machine learning models inspired by the way the human brain processes information.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consist of interconnected layers of neurons that learn patterns from data and make predictions.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neuron receives inputs, applies weights and bias, and produces an output.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neural networks (DNNs) contain multiple hidden layers for learning complex patterns.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networks are widely used for classification, prediction, and pattern recognition.</a:t>
            </a:r>
            <a:endParaRPr lang="en-US" sz="180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_neural_network">
            <a:extLst>
              <a:ext uri="{FF2B5EF4-FFF2-40B4-BE49-F238E27FC236}">
                <a16:creationId xmlns:a16="http://schemas.microsoft.com/office/drawing/2014/main" id="{2D640B85-3DB0-7CB2-F296-1F7E0401A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077" y="1700981"/>
            <a:ext cx="3427884" cy="401276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94867D-0E91-2A82-2030-39A1F892BF58}"/>
              </a:ext>
            </a:extLst>
          </p:cNvPr>
          <p:cNvSpPr txBox="1"/>
          <p:nvPr/>
        </p:nvSpPr>
        <p:spPr>
          <a:xfrm>
            <a:off x="1651819" y="1380945"/>
            <a:ext cx="20521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1758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543A3B-212B-AEAA-FA26-8AAD094A0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71C4A-05C7-860E-43E3-FE2E391E02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65211" y="1048858"/>
            <a:ext cx="5395331" cy="421354"/>
          </a:xfrm>
        </p:spPr>
        <p:txBody>
          <a:bodyPr/>
          <a:lstStyle/>
          <a:p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Background</a:t>
            </a:r>
            <a:br>
              <a:rPr lang="en-PK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PK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35A7EF-33D8-EED8-7464-0FD756509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5FFC1-8C5B-2DAE-28E7-1E0D0739A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4C346E-A0FD-14B5-6756-2AC2B34E8D4A}"/>
              </a:ext>
            </a:extLst>
          </p:cNvPr>
          <p:cNvSpPr txBox="1"/>
          <p:nvPr/>
        </p:nvSpPr>
        <p:spPr>
          <a:xfrm>
            <a:off x="1492958" y="1842783"/>
            <a:ext cx="92340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activation function is applied to the weighted sum of inputs before producing the final output of a neuron</a:t>
            </a:r>
          </a:p>
          <a:p>
            <a:pPr marL="285750" indent="-285750" fontAlgn="base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introduces non-linearity, allowing the network to learn complex patterns.</a:t>
            </a:r>
          </a:p>
          <a:p>
            <a:pPr marL="285750" indent="-285750" fontAlgn="base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Their mathematical properties affect gradient propagation, learning behavior, and convergence.</a:t>
            </a:r>
          </a:p>
          <a:p>
            <a:pPr>
              <a:lnSpc>
                <a:spcPct val="100000"/>
              </a:lnSpc>
            </a:pPr>
            <a:endParaRPr lang="en-US" sz="180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19C28-18AA-FBA9-F944-E3274AAFE069}"/>
              </a:ext>
            </a:extLst>
          </p:cNvPr>
          <p:cNvSpPr txBox="1"/>
          <p:nvPr/>
        </p:nvSpPr>
        <p:spPr>
          <a:xfrm>
            <a:off x="1651819" y="1380945"/>
            <a:ext cx="44422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Activation Functions in Deep Learning</a:t>
            </a:r>
          </a:p>
        </p:txBody>
      </p:sp>
      <p:pic>
        <p:nvPicPr>
          <p:cNvPr id="8" name="Picture 7" descr="Activation-functions-in-Neural-Networks">
            <a:extLst>
              <a:ext uri="{FF2B5EF4-FFF2-40B4-BE49-F238E27FC236}">
                <a16:creationId xmlns:a16="http://schemas.microsoft.com/office/drawing/2014/main" id="{B3911D73-EFF8-950D-9187-ED5B2A38A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4542" y="3381839"/>
            <a:ext cx="5574890" cy="2273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169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65211" y="1048858"/>
            <a:ext cx="5395331" cy="421354"/>
          </a:xfrm>
        </p:spPr>
        <p:txBody>
          <a:bodyPr/>
          <a:lstStyle/>
          <a:p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Background</a:t>
            </a:r>
            <a:br>
              <a:rPr lang="en-PK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PK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E8F5F4-D060-E387-F6E6-C01716E4980E}"/>
              </a:ext>
            </a:extLst>
          </p:cNvPr>
          <p:cNvSpPr txBox="1"/>
          <p:nvPr/>
        </p:nvSpPr>
        <p:spPr>
          <a:xfrm>
            <a:off x="1651819" y="1380945"/>
            <a:ext cx="38298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 in Neural networks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BB6213-F2FA-CB70-A64C-B988EB2103F3}"/>
              </a:ext>
            </a:extLst>
          </p:cNvPr>
          <p:cNvSpPr txBox="1"/>
          <p:nvPr/>
        </p:nvSpPr>
        <p:spPr>
          <a:xfrm>
            <a:off x="1420448" y="1859339"/>
            <a:ext cx="617363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loss function measures the difference between the predicted output and the actual target.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a numerical measure of the prediction error.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types of losses are:</a:t>
            </a:r>
          </a:p>
          <a:p>
            <a:pPr>
              <a:lnSpc>
                <a:spcPct val="100000"/>
              </a:lnSpc>
            </a:pPr>
            <a:endParaRPr lang="en-US" sz="180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8ACDAE5-026F-05F8-8081-AD17A29A8608}"/>
                  </a:ext>
                </a:extLst>
              </p:cNvPr>
              <p:cNvSpPr txBox="1"/>
              <p:nvPr/>
            </p:nvSpPr>
            <p:spPr>
              <a:xfrm>
                <a:off x="1492959" y="2947201"/>
                <a:ext cx="4744504" cy="7789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𝑀𝑒𝑎𝑛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𝑆𝑞𝑢𝑎𝑟𝑒𝑑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𝐸𝑟𝑟𝑜𝑟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𝑀𝑆𝐸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8ACDAE5-026F-05F8-8081-AD17A29A8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959" y="2947201"/>
                <a:ext cx="4744504" cy="7789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3AC5E91-063A-A86D-765E-BD164D9D0C8D}"/>
                  </a:ext>
                </a:extLst>
              </p:cNvPr>
              <p:cNvSpPr txBox="1"/>
              <p:nvPr/>
            </p:nvSpPr>
            <p:spPr>
              <a:xfrm>
                <a:off x="1492959" y="3787860"/>
                <a:ext cx="4487639" cy="7789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𝑀𝑒𝑎𝑛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𝐴𝑏𝑠𝑜𝑙𝑢𝑡𝑒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𝐸𝑟𝑟𝑜𝑟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3AC5E91-063A-A86D-765E-BD164D9D0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959" y="3787860"/>
                <a:ext cx="4487639" cy="7789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6891299-7CD4-71BC-B6E0-76ADCD80C76A}"/>
                  </a:ext>
                </a:extLst>
              </p:cNvPr>
              <p:cNvSpPr txBox="1"/>
              <p:nvPr/>
            </p:nvSpPr>
            <p:spPr>
              <a:xfrm>
                <a:off x="1492958" y="4606119"/>
                <a:ext cx="7197996" cy="7789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𝐵𝑖𝑛𝑎𝑟𝑦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𝐶𝑟𝑜𝑠𝑠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𝐸𝑛𝑡𝑟𝑜𝑝𝑦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BCE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)+(1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(1−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6891299-7CD4-71BC-B6E0-76ADCD80C7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958" y="4606119"/>
                <a:ext cx="7197996" cy="7789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A1699091-8778-33BC-E099-FF88139A7F24}"/>
              </a:ext>
            </a:extLst>
          </p:cNvPr>
          <p:cNvSpPr txBox="1"/>
          <p:nvPr/>
        </p:nvSpPr>
        <p:spPr>
          <a:xfrm>
            <a:off x="1543350" y="5362357"/>
            <a:ext cx="6173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During 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training, the main goal is to minimize the loss</a:t>
            </a:r>
            <a:endParaRPr lang="en-US" sz="180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0498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D0046-E0A2-27D7-3800-69ECBB527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C0D68-875A-837A-1D64-8145FE2D80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65211" y="1048858"/>
            <a:ext cx="5395331" cy="421354"/>
          </a:xfrm>
        </p:spPr>
        <p:txBody>
          <a:bodyPr/>
          <a:lstStyle/>
          <a:p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Background</a:t>
            </a:r>
            <a:br>
              <a:rPr lang="en-PK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PK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C12A0A-2CE6-D54E-C36E-D107BF54D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89C130-8127-FFB9-5167-5B8CD41CC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AD108E-BC7E-A075-7808-C78D47BC1B1F}"/>
              </a:ext>
            </a:extLst>
          </p:cNvPr>
          <p:cNvSpPr txBox="1"/>
          <p:nvPr/>
        </p:nvSpPr>
        <p:spPr>
          <a:xfrm>
            <a:off x="1651819" y="1380945"/>
            <a:ext cx="38058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 in Neural networks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6DA953-F007-1EAD-BDF7-A0FC78119102}"/>
              </a:ext>
            </a:extLst>
          </p:cNvPr>
          <p:cNvSpPr txBox="1"/>
          <p:nvPr/>
        </p:nvSpPr>
        <p:spPr>
          <a:xfrm>
            <a:off x="1543349" y="1897694"/>
            <a:ext cx="80922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a neural network involves minimizing a loss function.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 algorithms update network parameters using the gradient of the loss function.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Optimizers include:</a:t>
            </a:r>
          </a:p>
          <a:p>
            <a:pPr>
              <a:lnSpc>
                <a:spcPct val="100000"/>
              </a:lnSpc>
            </a:pPr>
            <a:endParaRPr lang="en-US" sz="180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F9902F-ED72-FAE8-CAB4-6311B9DBB9B3}"/>
                  </a:ext>
                </a:extLst>
              </p:cNvPr>
              <p:cNvSpPr txBox="1"/>
              <p:nvPr/>
            </p:nvSpPr>
            <p:spPr>
              <a:xfrm>
                <a:off x="1651819" y="3513520"/>
                <a:ext cx="3554499" cy="526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𝐺𝑟𝑎𝑑𝑖𝑒𝑛𝑡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𝐷𝑒𝑠𝑐𝑒𝑛𝑡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F9902F-ED72-FAE8-CAB4-6311B9DBB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1819" y="3513520"/>
                <a:ext cx="3554499" cy="5266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E1C4FA-AF9D-E72A-E884-C4C659A5EEE9}"/>
                  </a:ext>
                </a:extLst>
              </p:cNvPr>
              <p:cNvSpPr txBox="1"/>
              <p:nvPr/>
            </p:nvSpPr>
            <p:spPr>
              <a:xfrm>
                <a:off x="1651819" y="4232787"/>
                <a:ext cx="431887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𝑀𝑜𝑚𝑒𝑛𝑡𝑢𝑚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+(1−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/>
              </a:p>
              <a:p>
                <a:r>
                  <a:rPr lang="en-US" i="1" dirty="0"/>
                  <a:t>			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E1C4FA-AF9D-E72A-E884-C4C659A5EE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1819" y="4232787"/>
                <a:ext cx="4318875" cy="553998"/>
              </a:xfrm>
              <a:prstGeom prst="rect">
                <a:avLst/>
              </a:prstGeom>
              <a:blipFill>
                <a:blip r:embed="rId4"/>
                <a:stretch>
                  <a:fillRect l="-282" r="-989" b="-131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E9717C-86FB-761F-9EFA-ED6817761C0C}"/>
                  </a:ext>
                </a:extLst>
              </p:cNvPr>
              <p:cNvSpPr txBox="1"/>
              <p:nvPr/>
            </p:nvSpPr>
            <p:spPr>
              <a:xfrm>
                <a:off x="6362099" y="2941268"/>
                <a:ext cx="4375044" cy="9628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RMS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Prop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+(1−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b="0" i="1" dirty="0">
                  <a:ea typeface="Cambria Math" panose="02040503050406030204" pitchFamily="18" charset="0"/>
                </a:endParaRPr>
              </a:p>
              <a:p>
                <a:r>
                  <a:rPr lang="en-US" b="0" i="1" dirty="0">
                    <a:ea typeface="Cambria Math" panose="02040503050406030204" pitchFamily="18" charset="0"/>
                  </a:rPr>
                  <a:t>		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ra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E9717C-86FB-761F-9EFA-ED6817761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2099" y="2941268"/>
                <a:ext cx="4375044" cy="962892"/>
              </a:xfrm>
              <a:prstGeom prst="rect">
                <a:avLst/>
              </a:prstGeom>
              <a:blipFill>
                <a:blip r:embed="rId5"/>
                <a:stretch>
                  <a:fillRect l="-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02F2A3F-1D94-C944-2C41-B2771796F528}"/>
                  </a:ext>
                </a:extLst>
              </p:cNvPr>
              <p:cNvSpPr txBox="1"/>
              <p:nvPr/>
            </p:nvSpPr>
            <p:spPr>
              <a:xfrm>
                <a:off x="6364834" y="3681129"/>
                <a:ext cx="3660233" cy="22113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ADAM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+(1−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</m:oMath>
                </a14:m>
                <a:endParaRPr lang="en-US" i="1" dirty="0">
                  <a:ea typeface="Cambria Math" panose="02040503050406030204" pitchFamily="18" charset="0"/>
                </a:endParaRPr>
              </a:p>
              <a:p>
                <a:r>
                  <a:rPr lang="en-US" i="1" dirty="0"/>
                  <a:t>	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+(1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i="1" dirty="0">
                  <a:ea typeface="Cambria Math" panose="02040503050406030204" pitchFamily="18" charset="0"/>
                </a:endParaRPr>
              </a:p>
              <a:p>
                <a:r>
                  <a:rPr lang="en-US" i="1" dirty="0">
                    <a:ea typeface="Cambria Math" panose="02040503050406030204" pitchFamily="18" charset="0"/>
                  </a:rPr>
                  <a:t>	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    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den>
                    </m:f>
                  </m:oMath>
                </a14:m>
                <a:endParaRPr lang="en-US" i="1" dirty="0">
                  <a:ea typeface="Cambria Math" panose="02040503050406030204" pitchFamily="18" charset="0"/>
                </a:endParaRPr>
              </a:p>
              <a:p>
                <a:r>
                  <a:rPr lang="en-US" i="1" dirty="0">
                    <a:ea typeface="Cambria Math" panose="02040503050406030204" pitchFamily="18" charset="0"/>
                  </a:rPr>
                  <a:t>	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𝜗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ra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US" i="1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02F2A3F-1D94-C944-2C41-B2771796F5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834" y="3681129"/>
                <a:ext cx="3660233" cy="2211311"/>
              </a:xfrm>
              <a:prstGeom prst="rect">
                <a:avLst/>
              </a:prstGeom>
              <a:blipFill>
                <a:blip r:embed="rId6"/>
                <a:stretch>
                  <a:fillRect l="-2163" r="-8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7121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BEB67C-3C87-B327-C068-18DC9BD33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DB049A-E2C3-8CBD-6622-C59866B233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0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961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F7D1B0-11A7-D4EC-762B-C9109DA72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AA0E8-5C80-5009-8C6A-7702EC3CF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65211" y="1048858"/>
            <a:ext cx="5395331" cy="421354"/>
          </a:xfrm>
        </p:spPr>
        <p:txBody>
          <a:bodyPr/>
          <a:lstStyle/>
          <a:p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  <a:br>
              <a:rPr lang="en-PK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PK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52AC8B-499C-D867-3EC0-6237C0A83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5261-C683-C578-9E03-5DE7CED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4B198B-5608-3815-061E-31FA23BEE985}"/>
              </a:ext>
            </a:extLst>
          </p:cNvPr>
          <p:cNvSpPr txBox="1"/>
          <p:nvPr/>
        </p:nvSpPr>
        <p:spPr>
          <a:xfrm>
            <a:off x="1474523" y="1470212"/>
            <a:ext cx="909515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activation functions have limitations such as vanishing gradients, saturation, dead neurons, and computational complexity.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choice of activation function can affect convergence speed, training stability, and number of epochs. 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choice of activation function can affect convergence speed, training stability, and number of epochs.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Smooth activation functions can improve gradient behavior but may introduce additional computational operations.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there is a need to explore new mathematical formulations of activation functions.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endParaRPr lang="en-US" sz="180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1710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98334" y="3007646"/>
            <a:ext cx="5395331" cy="421354"/>
          </a:xfrm>
        </p:spPr>
        <p:txBody>
          <a:bodyPr/>
          <a:lstStyle/>
          <a:p>
            <a:r>
              <a:rPr lang="en-US" sz="4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lang="en-PK" sz="4000" dirty="0">
              <a:latin typeface="Sitka Heading Semibold" pitchFamily="2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371600" y="1614767"/>
            <a:ext cx="5074843" cy="37524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4195" marR="633730" indent="671830">
              <a:spcAft>
                <a:spcPts val="0"/>
              </a:spcAft>
            </a:pPr>
            <a:endParaRPr lang="en-PK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6827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63708-A41B-C300-6AFA-4EA83B60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FFFC120-92C9-D719-43A4-78CB71D97A1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33880860"/>
                  </p:ext>
                </p:extLst>
              </p:nvPr>
            </p:nvGraphicFramePr>
            <p:xfrm>
              <a:off x="698089" y="1"/>
              <a:ext cx="11415252" cy="691207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314483">
                      <a:extLst>
                        <a:ext uri="{9D8B030D-6E8A-4147-A177-3AD203B41FA5}">
                          <a16:colId xmlns:a16="http://schemas.microsoft.com/office/drawing/2014/main" val="3889108184"/>
                        </a:ext>
                      </a:extLst>
                    </a:gridCol>
                    <a:gridCol w="2292135">
                      <a:extLst>
                        <a:ext uri="{9D8B030D-6E8A-4147-A177-3AD203B41FA5}">
                          <a16:colId xmlns:a16="http://schemas.microsoft.com/office/drawing/2014/main" val="30569066"/>
                        </a:ext>
                      </a:extLst>
                    </a:gridCol>
                    <a:gridCol w="2596512">
                      <a:extLst>
                        <a:ext uri="{9D8B030D-6E8A-4147-A177-3AD203B41FA5}">
                          <a16:colId xmlns:a16="http://schemas.microsoft.com/office/drawing/2014/main" val="1408656613"/>
                        </a:ext>
                      </a:extLst>
                    </a:gridCol>
                    <a:gridCol w="2787923">
                      <a:extLst>
                        <a:ext uri="{9D8B030D-6E8A-4147-A177-3AD203B41FA5}">
                          <a16:colId xmlns:a16="http://schemas.microsoft.com/office/drawing/2014/main" val="3738051885"/>
                        </a:ext>
                      </a:extLst>
                    </a:gridCol>
                    <a:gridCol w="2424199">
                      <a:extLst>
                        <a:ext uri="{9D8B030D-6E8A-4147-A177-3AD203B41FA5}">
                          <a16:colId xmlns:a16="http://schemas.microsoft.com/office/drawing/2014/main" val="3123727170"/>
                        </a:ext>
                      </a:extLst>
                    </a:gridCol>
                  </a:tblGrid>
                  <a:tr h="352903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Reference</a:t>
                          </a:r>
                          <a:r>
                            <a:rPr lang="en-US" sz="1600" b="1" baseline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Area of Research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Mathematical Notation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Key</a:t>
                          </a:r>
                          <a:r>
                            <a:rPr lang="en-US" sz="1600" b="1" baseline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 strength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Gaps Identified</a:t>
                          </a:r>
                          <a:endParaRPr lang="en-US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12560688"/>
                      </a:ext>
                    </a:extLst>
                  </a:tr>
                  <a:tr h="1274585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[1]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Mathematics and Statistics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𝑺𝒊𝒈𝒎𝒐𝒊𝒅</m:t>
                                </m:r>
                              </m:oMath>
                            </m:oMathPara>
                          </a14:m>
                          <a:endParaRPr lang="en-US" sz="1600" b="1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𝝈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)=</m:t>
                                </m:r>
                                <m:f>
                                  <m:fPr>
                                    <m:ctrlPr>
                                      <a:rPr lang="en-US" sz="1600" b="1" i="1" kern="120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1" i="1" kern="120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1600" b="1" i="1" kern="120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1600" b="1" i="1" kern="120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en-US" sz="1600" b="1" i="1" kern="1200" smtClean="0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600" b="1" i="1" kern="1200" smtClean="0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𝒆</m:t>
                                        </m:r>
                                      </m:e>
                                      <m:sup>
                                        <m:r>
                                          <a:rPr lang="en-US" sz="1600" b="1" i="1" kern="1200" smtClean="0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1" i="1" kern="1200" smtClean="0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sz="1600" b="1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 algn="l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Best for binary classification</a:t>
                          </a:r>
                        </a:p>
                        <a:p>
                          <a:pPr marL="285750" marR="0" indent="-285750" algn="l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Continuous and Differentiable</a:t>
                          </a:r>
                        </a:p>
                        <a:p>
                          <a:pPr marL="285750" marR="0" indent="-285750" algn="l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Clear Decision boundary </a:t>
                          </a:r>
                        </a:p>
                        <a:p>
                          <a:pPr marL="285750" marR="0" indent="-285750" algn="l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endParaRPr lang="en-US" sz="1600" kern="12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Vanishing Gradient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25861603"/>
                      </a:ext>
                    </a:extLst>
                  </a:tr>
                  <a:tr h="82873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[2],</a:t>
                          </a: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 [3]</a:t>
                          </a: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u="none" strike="noStrike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Deep Learning,</a:t>
                          </a:r>
                          <a:endParaRPr lang="en-US" sz="14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r>
                            <a:rPr lang="en-US" sz="14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Neural</a:t>
                          </a:r>
                          <a:r>
                            <a:rPr lang="en-US" sz="1600" b="1" u="none" strike="noStrike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Network Architectures</a:t>
                          </a:r>
                          <a:endParaRPr lang="en-US" sz="1400" b="1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𝑹𝒆𝑳𝑼</m:t>
                                </m:r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)=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𝒎𝒂𝒙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𝟎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Improved Vanishing Gradient</a:t>
                          </a:r>
                        </a:p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Computational Simpler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 Gradient for negative inputs, Non- Smooth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97343110"/>
                      </a:ext>
                    </a:extLst>
                  </a:tr>
                  <a:tr h="101747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[4]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𝑷𝑹𝒆𝑳𝑼</m:t>
                                </m:r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Cambria Math" panose="020405030504060302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600" b="1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)=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1600" b="1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eqArr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𝒙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𝒊</m:t>
                                            </m:r>
                                          </m:sub>
                                        </m:sSub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  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𝒙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𝒊</m:t>
                                            </m:r>
                                          </m:sub>
                                        </m:sSub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≥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𝟎</m:t>
                                        </m:r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𝒂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𝒊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𝒙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𝒊</m:t>
                                            </m:r>
                                          </m:sub>
                                        </m:sSub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   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𝒙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𝒊</m:t>
                                            </m:r>
                                          </m:sub>
                                        </m:sSub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&lt;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𝟎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Allowed gradient for negative input values</a:t>
                          </a:r>
                        </a:p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Improved gradient propagation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l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Non-smooth, Continuously differentiable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621486"/>
                      </a:ext>
                    </a:extLst>
                  </a:tr>
                  <a:tr h="1081712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[5]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i="1" dirty="0">
                              <a:effectLst/>
                            </a:rPr>
                            <a:t>E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</a:rPr>
                                <m:t>𝑳𝑼</m:t>
                              </m:r>
                            </m:oMath>
                          </a14:m>
                          <a:endParaRPr lang="en-US" sz="1600" b="1" i="1" dirty="0">
                            <a:effectLst/>
                            <a:latin typeface="Cambria Math" panose="020405030504060302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)=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1600" b="1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   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≥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𝟎</m:t>
                                        </m:r>
                                      </m:e>
                                      <m:e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𝜶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(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𝒆</m:t>
                                            </m:r>
                                          </m:e>
                                          <m:sup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𝒙</m:t>
                                            </m:r>
                                          </m:sup>
                                        </m:sSup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𝟏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) 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&lt;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𝟎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Provides negative output unlike ReLU</a:t>
                          </a:r>
                        </a:p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Improved learning speed and accuracy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Fixed base. Limited Variation in parameter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16628481"/>
                      </a:ext>
                    </a:extLst>
                  </a:tr>
                  <a:tr h="102209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[6]</a:t>
                          </a: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Activations functions,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𝑺𝑬𝑳𝑼</m:t>
                                </m:r>
                              </m:oMath>
                            </m:oMathPara>
                          </a14:m>
                          <a:endParaRPr lang="en-US" sz="1600" b="1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)=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𝝀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1600" b="1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   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≥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𝟎</m:t>
                                        </m:r>
                                      </m:e>
                                      <m:e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𝜶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(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𝒆</m:t>
                                            </m:r>
                                          </m:e>
                                          <m:sup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𝒙</m:t>
                                            </m:r>
                                          </m:sup>
                                        </m:sSup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𝟏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) 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&lt;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𝟎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1600" b="1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Improves stability in during training</a:t>
                          </a:r>
                        </a:p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Maintain zero mean and variance across layers.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Fixed base. Limited Variation in parameter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139781479"/>
                      </a:ext>
                    </a:extLst>
                  </a:tr>
                  <a:tr h="128049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[7]</a:t>
                          </a: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Activations functions, Reinforcement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𝑮𝑬𝑳𝑼</m:t>
                                </m:r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)=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𝝓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i="1" kern="12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sz="1600" b="1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i="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Provides a strong mathematical and probabilistic interpretation of activation behavior.</a:t>
                          </a:r>
                          <a:endParaRPr lang="en-US" sz="1600" i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Fixed base. Limited Variation in parameter, complex computation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914185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FFFC120-92C9-D719-43A4-78CB71D97A1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33880860"/>
                  </p:ext>
                </p:extLst>
              </p:nvPr>
            </p:nvGraphicFramePr>
            <p:xfrm>
              <a:off x="698089" y="1"/>
              <a:ext cx="11415252" cy="691207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314483">
                      <a:extLst>
                        <a:ext uri="{9D8B030D-6E8A-4147-A177-3AD203B41FA5}">
                          <a16:colId xmlns:a16="http://schemas.microsoft.com/office/drawing/2014/main" val="3889108184"/>
                        </a:ext>
                      </a:extLst>
                    </a:gridCol>
                    <a:gridCol w="2292135">
                      <a:extLst>
                        <a:ext uri="{9D8B030D-6E8A-4147-A177-3AD203B41FA5}">
                          <a16:colId xmlns:a16="http://schemas.microsoft.com/office/drawing/2014/main" val="30569066"/>
                        </a:ext>
                      </a:extLst>
                    </a:gridCol>
                    <a:gridCol w="2596512">
                      <a:extLst>
                        <a:ext uri="{9D8B030D-6E8A-4147-A177-3AD203B41FA5}">
                          <a16:colId xmlns:a16="http://schemas.microsoft.com/office/drawing/2014/main" val="1408656613"/>
                        </a:ext>
                      </a:extLst>
                    </a:gridCol>
                    <a:gridCol w="2787923">
                      <a:extLst>
                        <a:ext uri="{9D8B030D-6E8A-4147-A177-3AD203B41FA5}">
                          <a16:colId xmlns:a16="http://schemas.microsoft.com/office/drawing/2014/main" val="3738051885"/>
                        </a:ext>
                      </a:extLst>
                    </a:gridCol>
                    <a:gridCol w="2424199">
                      <a:extLst>
                        <a:ext uri="{9D8B030D-6E8A-4147-A177-3AD203B41FA5}">
                          <a16:colId xmlns:a16="http://schemas.microsoft.com/office/drawing/2014/main" val="3123727170"/>
                        </a:ext>
                      </a:extLst>
                    </a:gridCol>
                  </a:tblGrid>
                  <a:tr h="352903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Reference</a:t>
                          </a:r>
                          <a:r>
                            <a:rPr lang="en-US" sz="1600" b="1" baseline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Area of Research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Mathematical Notation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Key</a:t>
                          </a:r>
                          <a:r>
                            <a:rPr lang="en-US" sz="1600" b="1" baseline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 strength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Gaps Identified</a:t>
                          </a:r>
                          <a:endParaRPr lang="en-US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12560688"/>
                      </a:ext>
                    </a:extLst>
                  </a:tr>
                  <a:tr h="1287018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[1]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Mathematics and Statistics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02" t="-32227" r="-201408" b="-4109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 algn="l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Best for binary classification</a:t>
                          </a:r>
                        </a:p>
                        <a:p>
                          <a:pPr marL="285750" marR="0" indent="-285750" algn="l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Continuous and Differentiable</a:t>
                          </a:r>
                        </a:p>
                        <a:p>
                          <a:pPr marL="285750" marR="0" indent="-285750" algn="l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Clear Decision boundary </a:t>
                          </a:r>
                        </a:p>
                        <a:p>
                          <a:pPr marL="285750" marR="0" indent="-285750" algn="l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endParaRPr lang="en-US" sz="1600" kern="12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Vanishing Gradient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25861603"/>
                      </a:ext>
                    </a:extLst>
                  </a:tr>
                  <a:tr h="82873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[2],</a:t>
                          </a: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 [3]</a:t>
                          </a: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u="none" strike="noStrike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Deep Learning,</a:t>
                          </a:r>
                          <a:endParaRPr lang="en-US" sz="14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r>
                            <a:rPr lang="en-US" sz="14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Neural</a:t>
                          </a:r>
                          <a:r>
                            <a:rPr lang="en-US" sz="1600" b="1" u="none" strike="noStrike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Network Architectures</a:t>
                          </a:r>
                          <a:endParaRPr lang="en-US" sz="1400" b="1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02" t="-205147" r="-201408" b="-53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Improved Vanishing Gradient</a:t>
                          </a:r>
                        </a:p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Computational Simpler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 Gradient for negative inputs, Non- Smooth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97343110"/>
                      </a:ext>
                    </a:extLst>
                  </a:tr>
                  <a:tr h="1026097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[4]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02" t="-247024" r="-201408" b="-3351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Allowed gradient for negative input values</a:t>
                          </a:r>
                        </a:p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Improved gradient propagation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l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Non-smooth, Continuously differentiable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621486"/>
                      </a:ext>
                    </a:extLst>
                  </a:tr>
                  <a:tr h="1092264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[5]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02" t="-323889" r="-201408" b="-21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Provides negative output unlike ReLU</a:t>
                          </a:r>
                        </a:p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Improved learning speed and accuracy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Fixed base. Limited Variation in parameter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16628481"/>
                      </a:ext>
                    </a:extLst>
                  </a:tr>
                  <a:tr h="103206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[6]</a:t>
                          </a: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Activations functions,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02" t="-451479" r="-201408" b="-1266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Improves stability in during training</a:t>
                          </a:r>
                        </a:p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Maintain zero mean and variance across layers.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Fixed base. Limited Variation in parameter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139781479"/>
                      </a:ext>
                    </a:extLst>
                  </a:tr>
                  <a:tr h="129298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[7]</a:t>
                          </a: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Activations functions, Reinforcement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02" t="-439623" r="-201408" b="-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i="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Provides a strong mathematical and probabilistic interpretation of activation behavior.</a:t>
                          </a:r>
                          <a:endParaRPr lang="en-US" sz="1600" i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Fixed base. Limited Variation in parameter, complex computation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9141855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69398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3CA70-40AA-CD61-4094-A1DC7FF15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8E7F7F-C307-9B60-2D0A-B5546C2A4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12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38811CE-3088-DB05-C22F-180928FD509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99734608"/>
                  </p:ext>
                </p:extLst>
              </p:nvPr>
            </p:nvGraphicFramePr>
            <p:xfrm>
              <a:off x="717754" y="9833"/>
              <a:ext cx="11474246" cy="6418497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321276">
                      <a:extLst>
                        <a:ext uri="{9D8B030D-6E8A-4147-A177-3AD203B41FA5}">
                          <a16:colId xmlns:a16="http://schemas.microsoft.com/office/drawing/2014/main" val="3889108184"/>
                        </a:ext>
                      </a:extLst>
                    </a:gridCol>
                    <a:gridCol w="2303981">
                      <a:extLst>
                        <a:ext uri="{9D8B030D-6E8A-4147-A177-3AD203B41FA5}">
                          <a16:colId xmlns:a16="http://schemas.microsoft.com/office/drawing/2014/main" val="30569066"/>
                        </a:ext>
                      </a:extLst>
                    </a:gridCol>
                    <a:gridCol w="2609931">
                      <a:extLst>
                        <a:ext uri="{9D8B030D-6E8A-4147-A177-3AD203B41FA5}">
                          <a16:colId xmlns:a16="http://schemas.microsoft.com/office/drawing/2014/main" val="1408656613"/>
                        </a:ext>
                      </a:extLst>
                    </a:gridCol>
                    <a:gridCol w="2802331">
                      <a:extLst>
                        <a:ext uri="{9D8B030D-6E8A-4147-A177-3AD203B41FA5}">
                          <a16:colId xmlns:a16="http://schemas.microsoft.com/office/drawing/2014/main" val="3738051885"/>
                        </a:ext>
                      </a:extLst>
                    </a:gridCol>
                    <a:gridCol w="2436727">
                      <a:extLst>
                        <a:ext uri="{9D8B030D-6E8A-4147-A177-3AD203B41FA5}">
                          <a16:colId xmlns:a16="http://schemas.microsoft.com/office/drawing/2014/main" val="3123727170"/>
                        </a:ext>
                      </a:extLst>
                    </a:gridCol>
                  </a:tblGrid>
                  <a:tr h="40336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Reference</a:t>
                          </a:r>
                          <a:r>
                            <a:rPr lang="en-US" sz="1600" b="1" baseline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Area of Research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Mathematical Notation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Key Strengths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Gaps Identified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12560688"/>
                      </a:ext>
                    </a:extLst>
                  </a:tr>
                  <a:tr h="589691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[8]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Activations functions, Reinforcement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𝑺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i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𝑳𝑼</m:t>
                                </m:r>
                              </m:oMath>
                            </m:oMathPara>
                          </a14:m>
                          <a:endParaRPr lang="en-US" sz="1600" b="1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𝝈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)=</m:t>
                                </m:r>
                                <m:f>
                                  <m:fPr>
                                    <m:ctrlPr>
                                      <a:rPr lang="en-US" sz="1600" b="1" i="1" kern="120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1" i="1" kern="120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𝒙</m:t>
                                    </m:r>
                                  </m:num>
                                  <m:den>
                                    <m:r>
                                      <a:rPr lang="en-US" sz="1600" b="1" i="1" kern="120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1600" b="1" i="1" kern="120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en-US" sz="1600" b="1" i="1" kern="1200" smtClean="0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600" b="1" i="1" kern="1200" smtClean="0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𝒆</m:t>
                                        </m:r>
                                      </m:e>
                                      <m:sup>
                                        <m:r>
                                          <a:rPr lang="en-US" sz="1600" b="1" i="1" kern="1200" smtClean="0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1" i="1" kern="1200" smtClean="0"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sz="1600" b="1" i="1" kern="12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Smooth, non-monotonic activation with improved function approximation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Fixed base. Limited Variation in parameter, complex computation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25861603"/>
                      </a:ext>
                    </a:extLst>
                  </a:tr>
                  <a:tr h="947239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[9]</a:t>
                          </a: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𝑺𝒘𝒊𝒔𝒉</m:t>
                                </m:r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)=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𝝈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𝜷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Smooth and non-monotonic</a:t>
                          </a:r>
                        </a:p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Favorable gradient behavior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Fixed base. Limited Variation in parameter, complex computation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97343110"/>
                      </a:ext>
                    </a:extLst>
                  </a:tr>
                  <a:tr h="141306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[10]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𝑴𝒊𝒔𝒉</m:t>
                                </m:r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Cambria Math" panose="020405030504060302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)=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𝒙𝒕𝒂𝒏𝒉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𝒍𝒏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𝟏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sz="1600" b="1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1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𝒆</m:t>
                                    </m:r>
                                  </m:e>
                                  <m:sup>
                                    <m:r>
                                      <a:rPr lang="en-US" sz="1600" b="1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𝒙</m:t>
                                    </m:r>
                                  </m:sup>
                                </m:sSup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))</m:t>
                                </m:r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Smooth and non-monotonic</a:t>
                          </a:r>
                        </a:p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Demonstrated competitive performance against </a:t>
                          </a:r>
                          <a:r>
                            <a:rPr lang="en-US" sz="1600" dirty="0" err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ReLU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Swish, and other popular activation functions.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High computation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621486"/>
                      </a:ext>
                    </a:extLst>
                  </a:tr>
                  <a:tr h="116099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[11]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i="1" dirty="0" err="1">
                              <a:effectLst/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TanhExp</a:t>
                          </a:r>
                          <a:endParaRPr lang="en-US" sz="1600" b="1" i="1" dirty="0">
                            <a:effectLst/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 xmlns:m="http://schemas.openxmlformats.org/officeDocument/2006/math"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𝒇</m:t>
                              </m:r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)=</m:t>
                              </m:r>
                            </m:oMath>
                          </a14:m>
                          <a:r>
                            <a:rPr lang="en-US" sz="1600" b="1" i="1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xtanh</a:t>
                          </a:r>
                          <a:r>
                            <a:rPr lang="en-US" sz="1600" b="1" i="1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600" b="1" i="1" smtClean="0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1" i="1" smtClean="0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𝒆</m:t>
                                  </m:r>
                                </m:e>
                                <m:sup>
                                  <m:r>
                                    <a:rPr lang="en-US" sz="1600" b="1" i="1" smtClean="0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𝒙</m:t>
                                  </m:r>
                                </m:sup>
                              </m:sSup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600" b="1" i="1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Provides negative output unlike ReLU</a:t>
                          </a:r>
                        </a:p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Improved learning speed and accuracy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Fixed base. Limited Variation in parameter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16628481"/>
                      </a:ext>
                    </a:extLst>
                  </a:tr>
                  <a:tr h="1123631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Mathematics,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i="1" dirty="0" err="1">
                              <a:effectLst/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RsigELU</a:t>
                          </a:r>
                          <a:endParaRPr lang="en-US" sz="1600" b="1" i="1" dirty="0">
                            <a:effectLst/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)=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1600" b="1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𝝈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𝜶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,   </m:t>
                                        </m:r>
                                      </m:e>
                                      <m:e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, </m:t>
                                        </m:r>
                                      </m:e>
                                      <m:e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𝜷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(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𝒆</m:t>
                                            </m:r>
                                          </m:e>
                                          <m:sup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𝒙</m:t>
                                            </m:r>
                                          </m:sup>
                                        </m:sSup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-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𝟏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)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Combines properties of Sigmoid and ELU to provide effective nonlinear transformation and improve neural-network learning and convergence</a:t>
                          </a:r>
                          <a:r>
                            <a:rPr lang="en-US" sz="1600" dirty="0"/>
                            <a:t>.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Convergence behavior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8790741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38811CE-3088-DB05-C22F-180928FD509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99734608"/>
                  </p:ext>
                </p:extLst>
              </p:nvPr>
            </p:nvGraphicFramePr>
            <p:xfrm>
              <a:off x="717754" y="9833"/>
              <a:ext cx="11474246" cy="6418497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321276">
                      <a:extLst>
                        <a:ext uri="{9D8B030D-6E8A-4147-A177-3AD203B41FA5}">
                          <a16:colId xmlns:a16="http://schemas.microsoft.com/office/drawing/2014/main" val="3889108184"/>
                        </a:ext>
                      </a:extLst>
                    </a:gridCol>
                    <a:gridCol w="2303981">
                      <a:extLst>
                        <a:ext uri="{9D8B030D-6E8A-4147-A177-3AD203B41FA5}">
                          <a16:colId xmlns:a16="http://schemas.microsoft.com/office/drawing/2014/main" val="30569066"/>
                        </a:ext>
                      </a:extLst>
                    </a:gridCol>
                    <a:gridCol w="2609931">
                      <a:extLst>
                        <a:ext uri="{9D8B030D-6E8A-4147-A177-3AD203B41FA5}">
                          <a16:colId xmlns:a16="http://schemas.microsoft.com/office/drawing/2014/main" val="1408656613"/>
                        </a:ext>
                      </a:extLst>
                    </a:gridCol>
                    <a:gridCol w="2802331">
                      <a:extLst>
                        <a:ext uri="{9D8B030D-6E8A-4147-A177-3AD203B41FA5}">
                          <a16:colId xmlns:a16="http://schemas.microsoft.com/office/drawing/2014/main" val="3738051885"/>
                        </a:ext>
                      </a:extLst>
                    </a:gridCol>
                    <a:gridCol w="2436727">
                      <a:extLst>
                        <a:ext uri="{9D8B030D-6E8A-4147-A177-3AD203B41FA5}">
                          <a16:colId xmlns:a16="http://schemas.microsoft.com/office/drawing/2014/main" val="3123727170"/>
                        </a:ext>
                      </a:extLst>
                    </a:gridCol>
                  </a:tblGrid>
                  <a:tr h="40336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Reference</a:t>
                          </a:r>
                          <a:r>
                            <a:rPr lang="en-US" sz="1600" b="1" baseline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Area of Research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Mathematical Notation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Key Strengths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Gaps Identified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12560688"/>
                      </a:ext>
                    </a:extLst>
                  </a:tr>
                  <a:tr h="103079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[8]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Activations functions, Reinforcement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52" t="-44706" r="-201636" b="-492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Smooth, non-monotonic activation with improved function approximation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Fixed base. Limited Variation in parameter, complex computation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25861603"/>
                      </a:ext>
                    </a:extLst>
                  </a:tr>
                  <a:tr h="947239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[9]</a:t>
                          </a: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52" t="-158710" r="-201636" b="-44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Smooth and non-monotonic</a:t>
                          </a:r>
                        </a:p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Favorable gradient behavior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Fixed base. Limited Variation in parameter, complex computation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97343110"/>
                      </a:ext>
                    </a:extLst>
                  </a:tr>
                  <a:tr h="141306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[10]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52" t="-172845" r="-201636" b="-1939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Smooth and non-monotonic</a:t>
                          </a:r>
                        </a:p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Demonstrated competitive performance against </a:t>
                          </a:r>
                          <a:r>
                            <a:rPr lang="en-US" sz="1600" dirty="0" err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ReLU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Swish, and other popular activation functions.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High computation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621486"/>
                      </a:ext>
                    </a:extLst>
                  </a:tr>
                  <a:tr h="116099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[11]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52" t="-331414" r="-201636" b="-135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Provides negative output unlike ReLU</a:t>
                          </a:r>
                        </a:p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Improved learning speed and accuracy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Fixed base. Limited Variation in parameter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16628481"/>
                      </a:ext>
                    </a:extLst>
                  </a:tr>
                  <a:tr h="1463040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Mathematics,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52" t="-343333" r="-201636" b="-7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Combines properties of Sigmoid and ELU to provide effective nonlinear transformation and improve neural-network learning and convergence</a:t>
                          </a:r>
                          <a:r>
                            <a:rPr lang="en-US" sz="1600" dirty="0"/>
                            <a:t>.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Convergence behavior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8790741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984496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DFFDE-B986-726F-8896-4BB8F3AC4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13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6306558-80B8-8EC6-D6FE-9532E3A27A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8886791"/>
                  </p:ext>
                </p:extLst>
              </p:nvPr>
            </p:nvGraphicFramePr>
            <p:xfrm>
              <a:off x="717754" y="9833"/>
              <a:ext cx="11474246" cy="7698628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321276">
                      <a:extLst>
                        <a:ext uri="{9D8B030D-6E8A-4147-A177-3AD203B41FA5}">
                          <a16:colId xmlns:a16="http://schemas.microsoft.com/office/drawing/2014/main" val="3889108184"/>
                        </a:ext>
                      </a:extLst>
                    </a:gridCol>
                    <a:gridCol w="2303981">
                      <a:extLst>
                        <a:ext uri="{9D8B030D-6E8A-4147-A177-3AD203B41FA5}">
                          <a16:colId xmlns:a16="http://schemas.microsoft.com/office/drawing/2014/main" val="30569066"/>
                        </a:ext>
                      </a:extLst>
                    </a:gridCol>
                    <a:gridCol w="2609931">
                      <a:extLst>
                        <a:ext uri="{9D8B030D-6E8A-4147-A177-3AD203B41FA5}">
                          <a16:colId xmlns:a16="http://schemas.microsoft.com/office/drawing/2014/main" val="1408656613"/>
                        </a:ext>
                      </a:extLst>
                    </a:gridCol>
                    <a:gridCol w="2802331">
                      <a:extLst>
                        <a:ext uri="{9D8B030D-6E8A-4147-A177-3AD203B41FA5}">
                          <a16:colId xmlns:a16="http://schemas.microsoft.com/office/drawing/2014/main" val="3738051885"/>
                        </a:ext>
                      </a:extLst>
                    </a:gridCol>
                    <a:gridCol w="2436727">
                      <a:extLst>
                        <a:ext uri="{9D8B030D-6E8A-4147-A177-3AD203B41FA5}">
                          <a16:colId xmlns:a16="http://schemas.microsoft.com/office/drawing/2014/main" val="3123727170"/>
                        </a:ext>
                      </a:extLst>
                    </a:gridCol>
                  </a:tblGrid>
                  <a:tr h="49161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Reference</a:t>
                          </a:r>
                          <a:r>
                            <a:rPr lang="en-US" sz="1600" b="1" baseline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Area of Research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Mathematical Notation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Key Strengths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Gaps Identified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12560688"/>
                      </a:ext>
                    </a:extLst>
                  </a:tr>
                  <a:tr h="688014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[8]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Design and development of novel activation functions for deep learning</a:t>
                          </a:r>
                          <a:endParaRPr lang="en-US" sz="1600" b="1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𝑨𝑷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𝜶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𝒕𝒂𝒏𝒉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𝜷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))*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𝜸</m:t>
                                </m:r>
                                <m:r>
                                  <a:rPr lang="en-US" sz="16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sz="1600" b="1" i="1" kern="12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Proposes </a:t>
                          </a:r>
                          <a:r>
                            <a:rPr lang="en-US" sz="1600" dirty="0" err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APTx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as an alternative activation function and compares its performance with Mish, Swish, and </a:t>
                          </a:r>
                          <a:r>
                            <a:rPr lang="en-US" sz="1600" dirty="0" err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ReLU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variants.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Gradient behavior, convergence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25861603"/>
                      </a:ext>
                    </a:extLst>
                  </a:tr>
                  <a:tr h="947239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[9]</a:t>
                          </a: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𝑹𝒐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𝑺𝒘𝒊𝒔𝒉</m:t>
                                </m:r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 xmlns:m="http://schemas.openxmlformats.org/officeDocument/2006/math"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𝒇</m:t>
                              </m:r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)=</m:t>
                              </m:r>
                            </m:oMath>
                          </a14:m>
                          <a:r>
                            <a:rPr lang="en-US" sz="1600" b="1" i="1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(x+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𝜶</m:t>
                              </m:r>
                            </m:oMath>
                          </a14:m>
                          <a:r>
                            <a:rPr lang="en-US" sz="1600" b="1" i="1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).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1" i="1" dirty="0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𝝈</m:t>
                              </m:r>
                              <m:r>
                                <a:rPr lang="en-US" sz="1600" b="1" i="1" dirty="0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sz="1600" b="1" i="1" dirty="0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  <m:r>
                                <a:rPr lang="en-US" sz="1600" b="1" i="1" dirty="0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)−</m:t>
                              </m:r>
                              <m:r>
                                <a:rPr lang="en-US" sz="1600" b="1" i="1" dirty="0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𝟎</m:t>
                              </m:r>
                              <m:r>
                                <a:rPr lang="en-US" sz="1600" b="1" i="1" dirty="0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.</m:t>
                              </m:r>
                              <m:r>
                                <a:rPr lang="en-US" sz="1600" b="1" i="1" dirty="0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𝟓</m:t>
                              </m:r>
                              <m:r>
                                <a:rPr lang="en-US" sz="1600" b="1" i="1" dirty="0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𝜶</m:t>
                              </m:r>
                            </m:oMath>
                          </a14:m>
                          <a:endParaRPr lang="en-US" sz="1600" b="1" i="1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Introduces an adaptive rotation mechanism around zero, providing greater flexibility in shaping the activation function and potentially improving network learning performance.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Further theoretical analysis is needed regarding its mathematical properties, gradient behavior, convergence guarantees, and stability across diverse architectures and datasets.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97343110"/>
                      </a:ext>
                    </a:extLst>
                  </a:tr>
                  <a:tr h="141306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[10]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𝑴𝒊𝒔𝒉</m:t>
                                </m:r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Cambria Math" panose="020405030504060302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)=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𝒙𝒕𝒂𝒏𝒉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𝒍𝒏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𝟏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sz="1600" b="1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1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𝒆</m:t>
                                    </m:r>
                                  </m:e>
                                  <m:sup>
                                    <m:r>
                                      <a:rPr lang="en-US" sz="1600" b="1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𝒙</m:t>
                                    </m:r>
                                  </m:sup>
                                </m:sSup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))</m:t>
                                </m:r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Smooth and non-monotonic</a:t>
                          </a:r>
                        </a:p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Demonstrated competitive performance against </a:t>
                          </a:r>
                          <a:r>
                            <a:rPr lang="en-US" sz="1600" dirty="0" err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ReLU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Swish, and other popular activation functions.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High computation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621486"/>
                      </a:ext>
                    </a:extLst>
                  </a:tr>
                  <a:tr h="116099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[11]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i="1" dirty="0" err="1">
                              <a:effectLst/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TanhExp</a:t>
                          </a:r>
                          <a:endParaRPr lang="en-US" sz="1600" b="1" i="1" dirty="0">
                            <a:effectLst/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 xmlns:m="http://schemas.openxmlformats.org/officeDocument/2006/math"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𝒇</m:t>
                              </m:r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)=</m:t>
                              </m:r>
                            </m:oMath>
                          </a14:m>
                          <a:r>
                            <a:rPr lang="en-US" sz="1600" b="1" i="1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xtanh</a:t>
                          </a:r>
                          <a:r>
                            <a:rPr lang="en-US" sz="1600" b="1" i="1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600" b="1" i="1" smtClean="0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1" i="1" smtClean="0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𝒆</m:t>
                                  </m:r>
                                </m:e>
                                <m:sup>
                                  <m:r>
                                    <a:rPr lang="en-US" sz="1600" b="1" i="1" smtClean="0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𝒙</m:t>
                                  </m:r>
                                </m:sup>
                              </m:sSup>
                              <m:r>
                                <a:rPr lang="en-US" sz="1600" b="1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600" b="1" i="1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Provides negative output unlike ReLU</a:t>
                          </a:r>
                        </a:p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Improved learning speed and accuracy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Fixed base. Limited Variation in parameter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16628481"/>
                      </a:ext>
                    </a:extLst>
                  </a:tr>
                  <a:tr h="1123631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Mathematics,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i="1" dirty="0" err="1">
                              <a:effectLst/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RsigELU</a:t>
                          </a:r>
                          <a:endParaRPr lang="en-US" sz="1600" b="1" i="1" dirty="0">
                            <a:effectLst/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(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  <m:r>
                                  <a:rPr lang="en-US" sz="1600" b="1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)=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1600" b="1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𝝈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𝜶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,   </m:t>
                                        </m:r>
                                      </m:e>
                                      <m:e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, </m:t>
                                        </m:r>
                                      </m:e>
                                      <m:e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𝜷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(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𝒆</m:t>
                                            </m:r>
                                          </m:e>
                                          <m:sup>
                                            <m:r>
                                              <a:rPr lang="en-US" sz="1600" b="1" i="1" smtClean="0">
                                                <a:effectLst/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𝒙</m:t>
                                            </m:r>
                                          </m:sup>
                                        </m:sSup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𝟏</m:t>
                                        </m:r>
                                        <m:r>
                                          <a:rPr lang="en-US" sz="1600" b="1" i="1" smtClean="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)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1600" b="1" i="1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Combines properties of Sigmoid and ELU to provide effective nonlinear transformation and improve neural-network learning and convergence</a:t>
                          </a:r>
                          <a:r>
                            <a:rPr lang="en-US" sz="1600" dirty="0"/>
                            <a:t>.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Convergence behavior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8790741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6306558-80B8-8EC6-D6FE-9532E3A27A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8886791"/>
                  </p:ext>
                </p:extLst>
              </p:nvPr>
            </p:nvGraphicFramePr>
            <p:xfrm>
              <a:off x="717754" y="9833"/>
              <a:ext cx="11474246" cy="7698628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321276">
                      <a:extLst>
                        <a:ext uri="{9D8B030D-6E8A-4147-A177-3AD203B41FA5}">
                          <a16:colId xmlns:a16="http://schemas.microsoft.com/office/drawing/2014/main" val="3889108184"/>
                        </a:ext>
                      </a:extLst>
                    </a:gridCol>
                    <a:gridCol w="2303981">
                      <a:extLst>
                        <a:ext uri="{9D8B030D-6E8A-4147-A177-3AD203B41FA5}">
                          <a16:colId xmlns:a16="http://schemas.microsoft.com/office/drawing/2014/main" val="30569066"/>
                        </a:ext>
                      </a:extLst>
                    </a:gridCol>
                    <a:gridCol w="2609931">
                      <a:extLst>
                        <a:ext uri="{9D8B030D-6E8A-4147-A177-3AD203B41FA5}">
                          <a16:colId xmlns:a16="http://schemas.microsoft.com/office/drawing/2014/main" val="1408656613"/>
                        </a:ext>
                      </a:extLst>
                    </a:gridCol>
                    <a:gridCol w="2802331">
                      <a:extLst>
                        <a:ext uri="{9D8B030D-6E8A-4147-A177-3AD203B41FA5}">
                          <a16:colId xmlns:a16="http://schemas.microsoft.com/office/drawing/2014/main" val="3738051885"/>
                        </a:ext>
                      </a:extLst>
                    </a:gridCol>
                    <a:gridCol w="2436727">
                      <a:extLst>
                        <a:ext uri="{9D8B030D-6E8A-4147-A177-3AD203B41FA5}">
                          <a16:colId xmlns:a16="http://schemas.microsoft.com/office/drawing/2014/main" val="3123727170"/>
                        </a:ext>
                      </a:extLst>
                    </a:gridCol>
                  </a:tblGrid>
                  <a:tr h="49161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Reference</a:t>
                          </a:r>
                          <a:r>
                            <a:rPr lang="en-US" sz="1600" b="1" baseline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Area of Research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Mathematical Notation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Key Strengths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Gaps Identified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70C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12560688"/>
                      </a:ext>
                    </a:extLst>
                  </a:tr>
                  <a:tr h="1219200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[8]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Design and development of novel activation functions for deep learning</a:t>
                          </a:r>
                          <a:endParaRPr lang="en-US" sz="1600" b="1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52" t="-45500" r="-201636" b="-501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Proposes </a:t>
                          </a:r>
                          <a:r>
                            <a:rPr lang="en-US" sz="1600" dirty="0" err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APTx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as an alternative activation function and compares its performance with Mish, Swish, and </a:t>
                          </a:r>
                          <a:r>
                            <a:rPr lang="en-US" sz="1600" dirty="0" err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ReLU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variants.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Gradient behavior, convergence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25861603"/>
                      </a:ext>
                    </a:extLst>
                  </a:tr>
                  <a:tr h="195072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[9]</a:t>
                          </a: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52" t="-90938" r="-201636" b="-2131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Introduces an adaptive rotation mechanism around zero, providing greater flexibility in shaping the activation function and potentially improving network learning performance.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Further theoretical analysis is needed regarding its mathematical properties, gradient behavior, convergence guarantees, and stability across diverse architectures and datasets.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97343110"/>
                      </a:ext>
                    </a:extLst>
                  </a:tr>
                  <a:tr h="141306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[10]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52" t="-263362" r="-201636" b="-1939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Smooth and non-monotonic</a:t>
                          </a:r>
                        </a:p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Demonstrated competitive performance against </a:t>
                          </a:r>
                          <a:r>
                            <a:rPr lang="en-US" sz="1600" dirty="0" err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ReLU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Swish, and other popular activation functions.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defTabSz="914400" rtl="0" eaLnBrk="1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kern="1200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High computation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621486"/>
                      </a:ext>
                    </a:extLst>
                  </a:tr>
                  <a:tr h="116099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[11]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Artificial Intelligence,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52" t="-441361" r="-201636" b="-135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Provides negative output unlike ReLU</a:t>
                          </a:r>
                        </a:p>
                        <a:p>
                          <a:pPr marL="285750" marR="0" indent="-28575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Improved learning speed and accuracy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Fixed base. Limited Variation in parameter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16628481"/>
                      </a:ext>
                    </a:extLst>
                  </a:tr>
                  <a:tr h="1463040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Mathematics, Machine Learning, Deep Learning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252" t="-430833" r="-201636" b="-7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indent="-28575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Combines properties of Sigmoid and ELU to provide effective nonlinear transformation and improve neural-network learning and convergence</a:t>
                          </a:r>
                          <a:r>
                            <a:rPr lang="en-US" sz="1600" dirty="0"/>
                            <a:t>.</a:t>
                          </a:r>
                          <a:endParaRPr lang="en-US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Convergence behavior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BFBFBF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8790741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531017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8647" y="720319"/>
            <a:ext cx="5395331" cy="421354"/>
          </a:xfrm>
        </p:spPr>
        <p:txBody>
          <a:bodyPr/>
          <a:lstStyle/>
          <a:p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Research gaps identified</a:t>
            </a:r>
            <a:endParaRPr lang="en-PK" sz="2400" dirty="0">
              <a:latin typeface="Sitka Heading Semibold" pitchFamily="2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371600" y="1614767"/>
            <a:ext cx="5074843" cy="37524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4195" marR="633730" indent="671830">
              <a:spcAft>
                <a:spcPts val="0"/>
              </a:spcAft>
            </a:pPr>
            <a:endParaRPr lang="en-PK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032660-140E-9189-A2EA-ED0DE84880F7}"/>
              </a:ext>
            </a:extLst>
          </p:cNvPr>
          <p:cNvSpPr txBox="1"/>
          <p:nvPr/>
        </p:nvSpPr>
        <p:spPr>
          <a:xfrm>
            <a:off x="1420447" y="1859339"/>
            <a:ext cx="858879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Networks are machine learning models inspired by the way the human brain processes information.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consist of interconnected layers of neurons that learn patterns from data and make predictions.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neuron receives inputs, applies weights and bias, and produces an output.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neural networks (DNNs) contain multiple hidden layers for learning complex patterns.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networks are widely used for classification, prediction, and pattern recognition.</a:t>
            </a:r>
            <a:endParaRPr lang="en-US" sz="180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14142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65211" y="1048858"/>
            <a:ext cx="5395331" cy="421354"/>
          </a:xfrm>
        </p:spPr>
        <p:txBody>
          <a:bodyPr/>
          <a:lstStyle/>
          <a:p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br>
              <a:rPr lang="en-PK" sz="2400" dirty="0">
                <a:effectLst/>
                <a:latin typeface="Sitka Heading Semibold" pitchFamily="2" charset="0"/>
                <a:ea typeface="Times New Roman" panose="02020603050405020304" pitchFamily="18" charset="0"/>
              </a:rPr>
            </a:br>
            <a:endParaRPr lang="en-PK" sz="2400" dirty="0">
              <a:latin typeface="Sitka Heading Semibold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30937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69376" y="720319"/>
            <a:ext cx="7188271" cy="421354"/>
          </a:xfrm>
        </p:spPr>
        <p:txBody>
          <a:bodyPr/>
          <a:lstStyle/>
          <a:p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Objectives of the research study</a:t>
            </a:r>
            <a:endParaRPr lang="en-PK" sz="2400" dirty="0">
              <a:latin typeface="Sitka Heading Semibold" pitchFamily="2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326777" y="1354933"/>
            <a:ext cx="5074843" cy="37524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4195" marR="633730" indent="671830">
              <a:spcAft>
                <a:spcPts val="0"/>
              </a:spcAft>
            </a:pPr>
            <a:endParaRPr lang="en-PK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E5555C-0829-464B-B799-99CEAB25D75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2259"/>
          <a:stretch/>
        </p:blipFill>
        <p:spPr>
          <a:xfrm>
            <a:off x="7299263" y="1933046"/>
            <a:ext cx="3458384" cy="2991908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39219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69376" y="720319"/>
            <a:ext cx="5395331" cy="421354"/>
          </a:xfrm>
        </p:spPr>
        <p:txBody>
          <a:bodyPr/>
          <a:lstStyle/>
          <a:p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Research Questions</a:t>
            </a:r>
            <a:endParaRPr lang="en-PK" sz="2400" dirty="0">
              <a:latin typeface="Sitka Heading Semibold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5886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98334" y="3218323"/>
            <a:ext cx="5395331" cy="421354"/>
          </a:xfrm>
        </p:spPr>
        <p:txBody>
          <a:bodyPr/>
          <a:lstStyle/>
          <a:p>
            <a:r>
              <a:rPr lang="en-US" sz="4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lang="en-PK" sz="4000" dirty="0">
              <a:latin typeface="Sitka Heading Semibold" pitchFamily="2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371600" y="1614767"/>
            <a:ext cx="5074843" cy="37524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4195" marR="633730" indent="671830">
              <a:spcAft>
                <a:spcPts val="0"/>
              </a:spcAft>
            </a:pPr>
            <a:endParaRPr lang="en-PK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29956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8647" y="720319"/>
            <a:ext cx="5395331" cy="421354"/>
          </a:xfrm>
        </p:spPr>
        <p:txBody>
          <a:bodyPr/>
          <a:lstStyle/>
          <a:p>
            <a:r>
              <a:rPr lang="en-US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lang="en-PK" sz="2800" dirty="0">
              <a:latin typeface="Sitka Heading Semibold" pitchFamily="2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371600" y="1614767"/>
            <a:ext cx="5074843" cy="37524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4195" marR="633730" indent="671830">
              <a:spcAft>
                <a:spcPts val="0"/>
              </a:spcAft>
            </a:pPr>
            <a:endParaRPr lang="en-PK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4BB-95F8-4B32-8F02-10B738AD6CBB}"/>
              </a:ext>
            </a:extLst>
          </p:cNvPr>
          <p:cNvSpPr txBox="1"/>
          <p:nvPr/>
        </p:nvSpPr>
        <p:spPr>
          <a:xfrm>
            <a:off x="5669280" y="6217920"/>
            <a:ext cx="143981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rPr dirty="0"/>
              <a:t>Source</a:t>
            </a:r>
            <a:r>
              <a:rPr lang="en-US" dirty="0"/>
              <a:t>: </a:t>
            </a:r>
            <a:r>
              <a:rPr lang="en-US" dirty="0">
                <a:hlinkClick r:id="rId3" action="ppaction://hlinkfile"/>
              </a:rPr>
              <a:t>..\thesis data.xlsx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062235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371600" y="1614767"/>
            <a:ext cx="5074843" cy="37524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4195" marR="633730" indent="671830">
              <a:spcAft>
                <a:spcPts val="0"/>
              </a:spcAft>
            </a:pPr>
            <a:endParaRPr lang="en-PK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A9F3CA1-58C3-4BE0-8478-938AE2E91C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98334" y="3218323"/>
            <a:ext cx="5395331" cy="421354"/>
          </a:xfrm>
        </p:spPr>
        <p:txBody>
          <a:bodyPr/>
          <a:lstStyle/>
          <a:p>
            <a:r>
              <a:rPr lang="en-US" sz="4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Proposed Results &amp; discussion</a:t>
            </a:r>
            <a:endParaRPr lang="en-PK" sz="4000" dirty="0">
              <a:latin typeface="Sitka Heading Semibold" pitchFamily="2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1828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8647" y="720319"/>
            <a:ext cx="5395331" cy="421354"/>
          </a:xfrm>
        </p:spPr>
        <p:txBody>
          <a:bodyPr/>
          <a:lstStyle/>
          <a:p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  <a:endParaRPr lang="en-PK" sz="2400" dirty="0">
              <a:latin typeface="Sitka Heading Semibold" pitchFamily="2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371600" y="1614767"/>
            <a:ext cx="5074843" cy="37524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4195" marR="633730" indent="671830">
              <a:spcAft>
                <a:spcPts val="0"/>
              </a:spcAft>
            </a:pPr>
            <a:endParaRPr lang="en-PK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5478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8647" y="720319"/>
            <a:ext cx="5395331" cy="421354"/>
          </a:xfrm>
        </p:spPr>
        <p:txBody>
          <a:bodyPr/>
          <a:lstStyle/>
          <a:p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  <a:endParaRPr lang="en-PK" sz="2400" dirty="0">
              <a:latin typeface="Sitka Heading Semibold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50662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8647" y="720319"/>
            <a:ext cx="5395331" cy="421354"/>
          </a:xfrm>
        </p:spPr>
        <p:txBody>
          <a:bodyPr/>
          <a:lstStyle/>
          <a:p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  <a:endParaRPr lang="en-PK" sz="2400" dirty="0">
              <a:latin typeface="Sitka Heading Semibold" pitchFamily="2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371600" y="1614767"/>
            <a:ext cx="5074843" cy="37524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4195" marR="633730" indent="671830">
              <a:spcAft>
                <a:spcPts val="0"/>
              </a:spcAft>
            </a:pPr>
            <a:endParaRPr lang="en-PK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51362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8647" y="720319"/>
            <a:ext cx="5395331" cy="421354"/>
          </a:xfrm>
        </p:spPr>
        <p:txBody>
          <a:bodyPr/>
          <a:lstStyle/>
          <a:p>
            <a:r>
              <a:rPr lang="en-US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Contribution</a:t>
            </a:r>
            <a:endParaRPr lang="en-PK" sz="2800" dirty="0">
              <a:latin typeface="Sitka Heading Semibold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8515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8647" y="720319"/>
            <a:ext cx="3566529" cy="421354"/>
          </a:xfrm>
        </p:spPr>
        <p:txBody>
          <a:bodyPr/>
          <a:lstStyle/>
          <a:p>
            <a:r>
              <a:rPr lang="en-US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  <a:endParaRPr lang="en-PK" sz="2800" dirty="0">
              <a:latin typeface="Sitka Heading Semibold" pitchFamily="2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371600" y="1614767"/>
            <a:ext cx="5074843" cy="37524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4195" marR="633730" indent="671830">
              <a:spcAft>
                <a:spcPts val="0"/>
              </a:spcAft>
            </a:pPr>
            <a:endParaRPr lang="en-PK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6F37289-6A50-438D-84DA-08F175A41B29}"/>
              </a:ext>
            </a:extLst>
          </p:cNvPr>
          <p:cNvSpPr txBox="1"/>
          <p:nvPr/>
        </p:nvSpPr>
        <p:spPr>
          <a:xfrm>
            <a:off x="1371600" y="1614767"/>
            <a:ext cx="9122833" cy="33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260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Causal relationships cannot be established.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260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Mental health may be underreported due to stigma and reporting bias.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260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clinical, psychosocial, and biological factors were not available.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260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Low-prevalence disorders remained difficult to predict despite ROSE balancing.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60132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8F182-5877-AC3F-5458-E3FFB8920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AF8F8-937B-3456-6ADD-771EAA9AA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18625-62FC-2AF9-44EB-171D7B6DD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1234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4517351" y="299965"/>
            <a:ext cx="3567113" cy="420688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PK" sz="2800" dirty="0">
              <a:latin typeface="Sitka Heading Semibold" pitchFamily="2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371600" y="1614767"/>
            <a:ext cx="5074843" cy="37524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4195" marR="633730" indent="671830">
              <a:spcAft>
                <a:spcPts val="0"/>
              </a:spcAft>
            </a:pPr>
            <a:endParaRPr lang="en-PK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5153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BE69-F388-4771-AAF1-9A6593207A3D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4517351" y="299965"/>
            <a:ext cx="3567113" cy="420688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PK" sz="2800" dirty="0">
              <a:latin typeface="Sitka Heading Semibold" pitchFamily="2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371599" y="1654523"/>
            <a:ext cx="5074843" cy="37524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4195" marR="633730" indent="671830">
              <a:spcAft>
                <a:spcPts val="0"/>
              </a:spcAft>
            </a:pPr>
            <a:endParaRPr lang="en-PK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28023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9F41A947-AAF2-4510-AFF3-0848D3D3FEDC}"/>
              </a:ext>
            </a:extLst>
          </p:cNvPr>
          <p:cNvSpPr txBox="1">
            <a:spLocks/>
          </p:cNvSpPr>
          <p:nvPr/>
        </p:nvSpPr>
        <p:spPr>
          <a:xfrm>
            <a:off x="1371600" y="1614767"/>
            <a:ext cx="5074843" cy="37524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4195" marR="633730" indent="671830">
              <a:spcAft>
                <a:spcPts val="0"/>
              </a:spcAft>
            </a:pPr>
            <a:endParaRPr lang="en-PK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F09835-0A37-4FD5-A02D-37C398070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74" y="507059"/>
            <a:ext cx="1695750" cy="8478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6F37289-6A50-438D-84DA-08F175A41B29}"/>
              </a:ext>
            </a:extLst>
          </p:cNvPr>
          <p:cNvSpPr txBox="1"/>
          <p:nvPr/>
        </p:nvSpPr>
        <p:spPr>
          <a:xfrm>
            <a:off x="3702424" y="2797692"/>
            <a:ext cx="4031837" cy="1481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  <a:p>
            <a:pPr algn="ctr">
              <a:lnSpc>
                <a:spcPct val="150000"/>
              </a:lnSpc>
            </a:pPr>
            <a:endParaRPr lang="en-US" sz="3200" b="1" i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442136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{148A32C1-07C5-45B9-89FA-E9F40CA4F688}TFc3084226-2d0c-440f-9f46-6b48c7a7f670e6ba4a85-fc4a2881d6b3</Template>
  <TotalTime>13670</TotalTime>
  <Words>1368</Words>
  <Application>Microsoft Office PowerPoint</Application>
  <PresentationFormat>Widescreen</PresentationFormat>
  <Paragraphs>240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Arial</vt:lpstr>
      <vt:lpstr>Calibri</vt:lpstr>
      <vt:lpstr>Cambria</vt:lpstr>
      <vt:lpstr>Cambria Math</vt:lpstr>
      <vt:lpstr>Franklin Gothic Book</vt:lpstr>
      <vt:lpstr>Sitka Heading Semibold</vt:lpstr>
      <vt:lpstr>Times New Roman</vt:lpstr>
      <vt:lpstr>Wingdings</vt:lpstr>
      <vt:lpstr>Crop</vt:lpstr>
      <vt:lpstr>A Generalized TanhExp Activation Function with a Variable Exponential Base for Deep Neural Networks </vt:lpstr>
      <vt:lpstr>Presentation Outline</vt:lpstr>
      <vt:lpstr>Introduction and Backbround</vt:lpstr>
      <vt:lpstr>Background  </vt:lpstr>
      <vt:lpstr>Background </vt:lpstr>
      <vt:lpstr>Background </vt:lpstr>
      <vt:lpstr>Background </vt:lpstr>
      <vt:lpstr>PowerPoint Presentation</vt:lpstr>
      <vt:lpstr>MOTIVATION </vt:lpstr>
      <vt:lpstr>Literature review</vt:lpstr>
      <vt:lpstr>PowerPoint Presentation</vt:lpstr>
      <vt:lpstr>PowerPoint Presentation</vt:lpstr>
      <vt:lpstr>PowerPoint Presentation</vt:lpstr>
      <vt:lpstr>Research gaps identified</vt:lpstr>
      <vt:lpstr>Problem Statement </vt:lpstr>
      <vt:lpstr>Objectives of the research study</vt:lpstr>
      <vt:lpstr>Research Questions</vt:lpstr>
      <vt:lpstr>methodology</vt:lpstr>
      <vt:lpstr>methodology</vt:lpstr>
      <vt:lpstr>Proposed Results &amp; discussion</vt:lpstr>
      <vt:lpstr>discussion</vt:lpstr>
      <vt:lpstr>discussion</vt:lpstr>
      <vt:lpstr>discussion</vt:lpstr>
      <vt:lpstr>Contribution</vt:lpstr>
      <vt:lpstr>limitations</vt:lpstr>
      <vt:lpstr>PowerPoint Presentation</vt:lpstr>
      <vt:lpstr>REFERENCES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INVESTIGATING THE IMPACT OF SCOPE CREEP IN CLOUD-BASED ENTERPRISE RESOURCE PLANNING SYSTEMS IN THE PHARMACEUTICAL INDUSTRY</dc:title>
  <dc:creator>Ferva Jafar</dc:creator>
  <cp:lastModifiedBy>Muhammad Arif</cp:lastModifiedBy>
  <cp:revision>595</cp:revision>
  <dcterms:created xsi:type="dcterms:W3CDTF">2025-09-30T07:45:00Z</dcterms:created>
  <dcterms:modified xsi:type="dcterms:W3CDTF">2026-10-08T12:18:19Z</dcterms:modified>
</cp:coreProperties>
</file>