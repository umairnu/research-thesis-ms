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9" r:id="rId4"/>
    <p:sldId id="261" r:id="rId5"/>
    <p:sldId id="379" r:id="rId6"/>
    <p:sldId id="258" r:id="rId7"/>
    <p:sldId id="380" r:id="rId8"/>
    <p:sldId id="381" r:id="rId9"/>
    <p:sldId id="382" r:id="rId10"/>
    <p:sldId id="292" r:id="rId11"/>
    <p:sldId id="383" r:id="rId12"/>
    <p:sldId id="384" r:id="rId13"/>
    <p:sldId id="385" r:id="rId14"/>
    <p:sldId id="273" r:id="rId15"/>
    <p:sldId id="386" r:id="rId16"/>
    <p:sldId id="260" r:id="rId17"/>
    <p:sldId id="265" r:id="rId18"/>
    <p:sldId id="275" r:id="rId19"/>
    <p:sldId id="302" r:id="rId20"/>
    <p:sldId id="387" r:id="rId21"/>
    <p:sldId id="388" r:id="rId22"/>
    <p:sldId id="389" r:id="rId23"/>
    <p:sldId id="390" r:id="rId24"/>
    <p:sldId id="391" r:id="rId25"/>
    <p:sldId id="392" r:id="rId26"/>
    <p:sldId id="393" r:id="rId27"/>
    <p:sldId id="316" r:id="rId28"/>
    <p:sldId id="371" r:id="rId29"/>
    <p:sldId id="369" r:id="rId30"/>
    <p:sldId id="377" r:id="rId31"/>
    <p:sldId id="395" r:id="rId32"/>
    <p:sldId id="288" r:id="rId33"/>
    <p:sldId id="39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rva Jafar" initials="FJ" lastIdx="3" clrIdx="0">
    <p:extLst>
      <p:ext uri="{19B8F6BF-5375-455C-9EA6-DF929625EA0E}">
        <p15:presenceInfo xmlns:p15="http://schemas.microsoft.com/office/powerpoint/2012/main" userId="S::ferva.jafar@systemsltd.com::c3db29f3-5d5d-4bf8-ad1e-eb30b4269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2B2B"/>
    <a:srgbClr val="2E824A"/>
    <a:srgbClr val="275299"/>
    <a:srgbClr val="074BB9"/>
    <a:srgbClr val="287188"/>
    <a:srgbClr val="E0D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84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rif" userId="23ae7a8cb3dec40c" providerId="LiveId" clId="{CCC86FAD-04DB-4BD4-AA2C-6BF4D25A0221}"/>
    <pc:docChg chg="undo custSel addSld delSld modSld sldOrd">
      <pc:chgData name="Muhammad Arif" userId="23ae7a8cb3dec40c" providerId="LiveId" clId="{CCC86FAD-04DB-4BD4-AA2C-6BF4D25A0221}" dt="2026-10-17T01:02:21.599" v="574" actId="20577"/>
      <pc:docMkLst>
        <pc:docMk/>
      </pc:docMkLst>
      <pc:sldChg chg="modSp mod">
        <pc:chgData name="Muhammad Arif" userId="23ae7a8cb3dec40c" providerId="LiveId" clId="{CCC86FAD-04DB-4BD4-AA2C-6BF4D25A0221}" dt="2026-10-15T02:51:09.547" v="548" actId="20577"/>
        <pc:sldMkLst>
          <pc:docMk/>
          <pc:sldMk cId="2505166348" sldId="256"/>
        </pc:sldMkLst>
        <pc:spChg chg="mod">
          <ac:chgData name="Muhammad Arif" userId="23ae7a8cb3dec40c" providerId="LiveId" clId="{CCC86FAD-04DB-4BD4-AA2C-6BF4D25A0221}" dt="2026-10-15T02:51:09.547" v="548" actId="20577"/>
          <ac:spMkLst>
            <pc:docMk/>
            <pc:sldMk cId="2505166348" sldId="256"/>
            <ac:spMk id="2" creationId="{6522BE69-F388-4771-AAF1-9A6593207A3D}"/>
          </ac:spMkLst>
        </pc:spChg>
      </pc:sldChg>
      <pc:sldChg chg="modSp mod">
        <pc:chgData name="Muhammad Arif" userId="23ae7a8cb3dec40c" providerId="LiveId" clId="{CCC86FAD-04DB-4BD4-AA2C-6BF4D25A0221}" dt="2026-10-15T01:55:58.337" v="224" actId="20577"/>
        <pc:sldMkLst>
          <pc:docMk/>
          <pc:sldMk cId="850498873" sldId="258"/>
        </pc:sldMkLst>
        <pc:spChg chg="mod">
          <ac:chgData name="Muhammad Arif" userId="23ae7a8cb3dec40c" providerId="LiveId" clId="{CCC86FAD-04DB-4BD4-AA2C-6BF4D25A0221}" dt="2026-10-15T01:55:58.337" v="224" actId="20577"/>
          <ac:spMkLst>
            <pc:docMk/>
            <pc:sldMk cId="850498873" sldId="258"/>
            <ac:spMk id="11" creationId="{03BB6213-F2FA-CB70-A64C-B988EB2103F3}"/>
          </ac:spMkLst>
        </pc:spChg>
      </pc:sldChg>
      <pc:sldChg chg="addSp modSp mod">
        <pc:chgData name="Muhammad Arif" userId="23ae7a8cb3dec40c" providerId="LiveId" clId="{CCC86FAD-04DB-4BD4-AA2C-6BF4D25A0221}" dt="2026-10-08T23:48:31.470" v="144" actId="2711"/>
        <pc:sldMkLst>
          <pc:docMk/>
          <pc:sldMk cId="4173921958" sldId="260"/>
        </pc:sldMkLst>
        <pc:spChg chg="add mod">
          <ac:chgData name="Muhammad Arif" userId="23ae7a8cb3dec40c" providerId="LiveId" clId="{CCC86FAD-04DB-4BD4-AA2C-6BF4D25A0221}" dt="2026-10-08T23:48:31.470" v="144" actId="2711"/>
          <ac:spMkLst>
            <pc:docMk/>
            <pc:sldMk cId="4173921958" sldId="260"/>
            <ac:spMk id="8" creationId="{1207EAE2-87A5-7192-2F40-EEC69DD16ECA}"/>
          </ac:spMkLst>
        </pc:spChg>
        <pc:picChg chg="mod">
          <ac:chgData name="Muhammad Arif" userId="23ae7a8cb3dec40c" providerId="LiveId" clId="{CCC86FAD-04DB-4BD4-AA2C-6BF4D25A0221}" dt="2026-10-08T23:47:10.718" v="136" actId="14100"/>
          <ac:picMkLst>
            <pc:docMk/>
            <pc:sldMk cId="4173921958" sldId="260"/>
            <ac:picMk id="7" creationId="{B7E5555C-0829-464B-B799-99CEAB25D756}"/>
          </ac:picMkLst>
        </pc:picChg>
      </pc:sldChg>
      <pc:sldChg chg="addSp modSp mod">
        <pc:chgData name="Muhammad Arif" userId="23ae7a8cb3dec40c" providerId="LiveId" clId="{CCC86FAD-04DB-4BD4-AA2C-6BF4D25A0221}" dt="2026-10-09T00:19:46.625" v="169" actId="5793"/>
        <pc:sldMkLst>
          <pc:docMk/>
          <pc:sldMk cId="3477588683" sldId="265"/>
        </pc:sldMkLst>
        <pc:spChg chg="add mod">
          <ac:chgData name="Muhammad Arif" userId="23ae7a8cb3dec40c" providerId="LiveId" clId="{CCC86FAD-04DB-4BD4-AA2C-6BF4D25A0221}" dt="2026-10-09T00:19:46.625" v="169" actId="5793"/>
          <ac:spMkLst>
            <pc:docMk/>
            <pc:sldMk cId="3477588683" sldId="265"/>
            <ac:spMk id="4" creationId="{704AB3B0-E6BC-1B49-C077-2F244A88EA0B}"/>
          </ac:spMkLst>
        </pc:spChg>
      </pc:sldChg>
      <pc:sldChg chg="addSp modSp mod">
        <pc:chgData name="Muhammad Arif" userId="23ae7a8cb3dec40c" providerId="LiveId" clId="{CCC86FAD-04DB-4BD4-AA2C-6BF4D25A0221}" dt="2026-10-08T13:44:52.724" v="33" actId="1076"/>
        <pc:sldMkLst>
          <pc:docMk/>
          <pc:sldMk cId="1071414227" sldId="273"/>
        </pc:sldMkLst>
        <pc:spChg chg="mod">
          <ac:chgData name="Muhammad Arif" userId="23ae7a8cb3dec40c" providerId="LiveId" clId="{CCC86FAD-04DB-4BD4-AA2C-6BF4D25A0221}" dt="2026-10-08T13:44:52.724" v="33" actId="1076"/>
          <ac:spMkLst>
            <pc:docMk/>
            <pc:sldMk cId="1071414227" sldId="273"/>
            <ac:spMk id="7" creationId="{5F032660-140E-9189-A2EA-ED0DE84880F7}"/>
          </ac:spMkLst>
        </pc:spChg>
      </pc:sldChg>
      <pc:sldChg chg="modSp mod">
        <pc:chgData name="Muhammad Arif" userId="23ae7a8cb3dec40c" providerId="LiveId" clId="{CCC86FAD-04DB-4BD4-AA2C-6BF4D25A0221}" dt="2026-10-08T21:48:27.857" v="45" actId="20577"/>
        <pc:sldMkLst>
          <pc:docMk/>
          <pc:sldMk cId="1491717552" sldId="289"/>
        </pc:sldMkLst>
        <pc:spChg chg="mod">
          <ac:chgData name="Muhammad Arif" userId="23ae7a8cb3dec40c" providerId="LiveId" clId="{CCC86FAD-04DB-4BD4-AA2C-6BF4D25A0221}" dt="2026-10-08T21:48:27.857" v="45" actId="20577"/>
          <ac:spMkLst>
            <pc:docMk/>
            <pc:sldMk cId="1491717552" sldId="289"/>
            <ac:spMk id="2" creationId="{6522BE69-F388-4771-AAF1-9A6593207A3D}"/>
          </ac:spMkLst>
        </pc:spChg>
      </pc:sldChg>
      <pc:sldChg chg="addSp delSp modSp mod">
        <pc:chgData name="Muhammad Arif" userId="23ae7a8cb3dec40c" providerId="LiveId" clId="{CCC86FAD-04DB-4BD4-AA2C-6BF4D25A0221}" dt="2026-10-15T02:25:06.051" v="402" actId="20577"/>
        <pc:sldMkLst>
          <pc:docMk/>
          <pc:sldMk cId="2806223596" sldId="302"/>
        </pc:sldMkLst>
        <pc:spChg chg="mod">
          <ac:chgData name="Muhammad Arif" userId="23ae7a8cb3dec40c" providerId="LiveId" clId="{CCC86FAD-04DB-4BD4-AA2C-6BF4D25A0221}" dt="2026-10-09T01:19:35.220" v="180" actId="20577"/>
          <ac:spMkLst>
            <pc:docMk/>
            <pc:sldMk cId="2806223596" sldId="302"/>
            <ac:spMk id="2" creationId="{6522BE69-F388-4771-AAF1-9A6593207A3D}"/>
          </ac:spMkLst>
        </pc:spChg>
        <pc:spChg chg="add mod">
          <ac:chgData name="Muhammad Arif" userId="23ae7a8cb3dec40c" providerId="LiveId" clId="{CCC86FAD-04DB-4BD4-AA2C-6BF4D25A0221}" dt="2026-10-15T02:25:06.051" v="402" actId="20577"/>
          <ac:spMkLst>
            <pc:docMk/>
            <pc:sldMk cId="2806223596" sldId="302"/>
            <ac:spMk id="8" creationId="{4505593D-AA3E-61A4-DB83-0AA6BC3E4CA5}"/>
          </ac:spMkLst>
        </pc:spChg>
      </pc:sldChg>
      <pc:sldChg chg="modSp mod">
        <pc:chgData name="Muhammad Arif" userId="23ae7a8cb3dec40c" providerId="LiveId" clId="{CCC86FAD-04DB-4BD4-AA2C-6BF4D25A0221}" dt="2026-10-08T13:16:47.157" v="6" actId="1076"/>
        <pc:sldMkLst>
          <pc:docMk/>
          <pc:sldMk cId="2007121015" sldId="380"/>
        </pc:sldMkLst>
        <pc:spChg chg="mod">
          <ac:chgData name="Muhammad Arif" userId="23ae7a8cb3dec40c" providerId="LiveId" clId="{CCC86FAD-04DB-4BD4-AA2C-6BF4D25A0221}" dt="2026-10-08T13:16:26.667" v="3" actId="1076"/>
          <ac:spMkLst>
            <pc:docMk/>
            <pc:sldMk cId="2007121015" sldId="380"/>
            <ac:spMk id="3" creationId="{BAF9902F-ED72-FAE8-CAB4-6311B9DBB9B3}"/>
          </ac:spMkLst>
        </pc:spChg>
        <pc:spChg chg="mod">
          <ac:chgData name="Muhammad Arif" userId="23ae7a8cb3dec40c" providerId="LiveId" clId="{CCC86FAD-04DB-4BD4-AA2C-6BF4D25A0221}" dt="2026-10-08T13:16:33.800" v="4" actId="1076"/>
          <ac:spMkLst>
            <pc:docMk/>
            <pc:sldMk cId="2007121015" sldId="380"/>
            <ac:spMk id="9" creationId="{B9E1C4FA-AF9D-E72A-E884-C4C659A5EEE9}"/>
          </ac:spMkLst>
        </pc:spChg>
        <pc:spChg chg="mod">
          <ac:chgData name="Muhammad Arif" userId="23ae7a8cb3dec40c" providerId="LiveId" clId="{CCC86FAD-04DB-4BD4-AA2C-6BF4D25A0221}" dt="2026-10-08T13:16:40.399" v="5" actId="1076"/>
          <ac:spMkLst>
            <pc:docMk/>
            <pc:sldMk cId="2007121015" sldId="380"/>
            <ac:spMk id="10" creationId="{EDE9717C-86FB-761F-9EFA-ED6817761C0C}"/>
          </ac:spMkLst>
        </pc:spChg>
        <pc:spChg chg="mod">
          <ac:chgData name="Muhammad Arif" userId="23ae7a8cb3dec40c" providerId="LiveId" clId="{CCC86FAD-04DB-4BD4-AA2C-6BF4D25A0221}" dt="2026-10-08T13:16:47.157" v="6" actId="1076"/>
          <ac:spMkLst>
            <pc:docMk/>
            <pc:sldMk cId="2007121015" sldId="380"/>
            <ac:spMk id="13" creationId="{E02F2A3F-1D94-C944-2C41-B2771796F528}"/>
          </ac:spMkLst>
        </pc:spChg>
      </pc:sldChg>
      <pc:sldChg chg="modSp mod">
        <pc:chgData name="Muhammad Arif" userId="23ae7a8cb3dec40c" providerId="LiveId" clId="{CCC86FAD-04DB-4BD4-AA2C-6BF4D25A0221}" dt="2026-10-17T00:13:12.342" v="549" actId="6549"/>
        <pc:sldMkLst>
          <pc:docMk/>
          <pc:sldMk cId="4161710971" sldId="382"/>
        </pc:sldMkLst>
        <pc:spChg chg="mod">
          <ac:chgData name="Muhammad Arif" userId="23ae7a8cb3dec40c" providerId="LiveId" clId="{CCC86FAD-04DB-4BD4-AA2C-6BF4D25A0221}" dt="2026-10-17T00:13:12.342" v="549" actId="6549"/>
          <ac:spMkLst>
            <pc:docMk/>
            <pc:sldMk cId="4161710971" sldId="382"/>
            <ac:spMk id="11" creationId="{EA4B198B-5608-3815-061E-31FA23BEE985}"/>
          </ac:spMkLst>
        </pc:spChg>
      </pc:sldChg>
      <pc:sldChg chg="modSp mod">
        <pc:chgData name="Muhammad Arif" userId="23ae7a8cb3dec40c" providerId="LiveId" clId="{CCC86FAD-04DB-4BD4-AA2C-6BF4D25A0221}" dt="2026-10-15T02:44:15.859" v="472" actId="20577"/>
        <pc:sldMkLst>
          <pc:docMk/>
          <pc:sldMk cId="2969398226" sldId="383"/>
        </pc:sldMkLst>
        <pc:graphicFrameChg chg="modGraphic">
          <ac:chgData name="Muhammad Arif" userId="23ae7a8cb3dec40c" providerId="LiveId" clId="{CCC86FAD-04DB-4BD4-AA2C-6BF4D25A0221}" dt="2026-10-15T02:44:15.859" v="472" actId="20577"/>
          <ac:graphicFrameMkLst>
            <pc:docMk/>
            <pc:sldMk cId="2969398226" sldId="383"/>
            <ac:graphicFrameMk id="5" creationId="{DFFFC120-92C9-D719-43A4-78CB71D97A18}"/>
          </ac:graphicFrameMkLst>
        </pc:graphicFrameChg>
      </pc:sldChg>
      <pc:sldChg chg="modSp mod">
        <pc:chgData name="Muhammad Arif" userId="23ae7a8cb3dec40c" providerId="LiveId" clId="{CCC86FAD-04DB-4BD4-AA2C-6BF4D25A0221}" dt="2026-10-15T02:46:04.840" v="513" actId="20577"/>
        <pc:sldMkLst>
          <pc:docMk/>
          <pc:sldMk cId="2398449679" sldId="384"/>
        </pc:sldMkLst>
        <pc:graphicFrameChg chg="modGraphic">
          <ac:chgData name="Muhammad Arif" userId="23ae7a8cb3dec40c" providerId="LiveId" clId="{CCC86FAD-04DB-4BD4-AA2C-6BF4D25A0221}" dt="2026-10-15T02:46:04.840" v="513" actId="20577"/>
          <ac:graphicFrameMkLst>
            <pc:docMk/>
            <pc:sldMk cId="2398449679" sldId="384"/>
            <ac:graphicFrameMk id="5" creationId="{D38811CE-3088-DB05-C22F-180928FD5095}"/>
          </ac:graphicFrameMkLst>
        </pc:graphicFrameChg>
      </pc:sldChg>
      <pc:sldChg chg="modSp mod">
        <pc:chgData name="Muhammad Arif" userId="23ae7a8cb3dec40c" providerId="LiveId" clId="{CCC86FAD-04DB-4BD4-AA2C-6BF4D25A0221}" dt="2026-10-15T02:46:45.983" v="523" actId="20577"/>
        <pc:sldMkLst>
          <pc:docMk/>
          <pc:sldMk cId="2553101770" sldId="385"/>
        </pc:sldMkLst>
        <pc:graphicFrameChg chg="modGraphic">
          <ac:chgData name="Muhammad Arif" userId="23ae7a8cb3dec40c" providerId="LiveId" clId="{CCC86FAD-04DB-4BD4-AA2C-6BF4D25A0221}" dt="2026-10-15T02:46:45.983" v="523" actId="20577"/>
          <ac:graphicFrameMkLst>
            <pc:docMk/>
            <pc:sldMk cId="2553101770" sldId="385"/>
            <ac:graphicFrameMk id="6" creationId="{E6306558-80B8-8EC6-D6FE-9532E3A27AB9}"/>
          </ac:graphicFrameMkLst>
        </pc:graphicFrameChg>
      </pc:sldChg>
      <pc:sldChg chg="delSp modSp add mod ord">
        <pc:chgData name="Muhammad Arif" userId="23ae7a8cb3dec40c" providerId="LiveId" clId="{CCC86FAD-04DB-4BD4-AA2C-6BF4D25A0221}" dt="2026-10-17T01:02:21.599" v="574" actId="20577"/>
        <pc:sldMkLst>
          <pc:docMk/>
          <pc:sldMk cId="1934331793" sldId="386"/>
        </pc:sldMkLst>
        <pc:spChg chg="mod">
          <ac:chgData name="Muhammad Arif" userId="23ae7a8cb3dec40c" providerId="LiveId" clId="{CCC86FAD-04DB-4BD4-AA2C-6BF4D25A0221}" dt="2026-10-08T21:50:16.541" v="63" actId="313"/>
          <ac:spMkLst>
            <pc:docMk/>
            <pc:sldMk cId="1934331793" sldId="386"/>
            <ac:spMk id="2" creationId="{DAC2B5EB-4B73-B5E1-4271-69226A414FA8}"/>
          </ac:spMkLst>
        </pc:spChg>
        <pc:spChg chg="mod">
          <ac:chgData name="Muhammad Arif" userId="23ae7a8cb3dec40c" providerId="LiveId" clId="{CCC86FAD-04DB-4BD4-AA2C-6BF4D25A0221}" dt="2026-10-17T01:02:21.599" v="574" actId="20577"/>
          <ac:spMkLst>
            <pc:docMk/>
            <pc:sldMk cId="1934331793" sldId="386"/>
            <ac:spMk id="11" creationId="{EED3DE9A-343F-CE91-A226-31C7249EDC23}"/>
          </ac:spMkLst>
        </pc:spChg>
      </pc:sldChg>
      <pc:sldChg chg="modSp mod">
        <pc:chgData name="Muhammad Arif" userId="23ae7a8cb3dec40c" providerId="LiveId" clId="{CCC86FAD-04DB-4BD4-AA2C-6BF4D25A0221}" dt="2026-10-15T02:41:01.780" v="414" actId="20577"/>
        <pc:sldMkLst>
          <pc:docMk/>
          <pc:sldMk cId="2922866020" sldId="393"/>
        </pc:sldMkLst>
        <pc:spChg chg="mod">
          <ac:chgData name="Muhammad Arif" userId="23ae7a8cb3dec40c" providerId="LiveId" clId="{CCC86FAD-04DB-4BD4-AA2C-6BF4D25A0221}" dt="2026-10-15T02:41:01.780" v="414" actId="20577"/>
          <ac:spMkLst>
            <pc:docMk/>
            <pc:sldMk cId="2922866020" sldId="393"/>
            <ac:spMk id="12" creationId="{5D63D2D0-EF29-22BA-F80D-A2D2B55BAC73}"/>
          </ac:spMkLst>
        </pc:spChg>
      </pc:sldChg>
      <pc:sldChg chg="addSp delSp modSp add mod">
        <pc:chgData name="Muhammad Arif" userId="23ae7a8cb3dec40c" providerId="LiveId" clId="{CCC86FAD-04DB-4BD4-AA2C-6BF4D25A0221}" dt="2026-10-15T02:40:32.884" v="409"/>
        <pc:sldMkLst>
          <pc:docMk/>
          <pc:sldMk cId="1654495860" sldId="395"/>
        </pc:sldMkLst>
        <pc:spChg chg="mod">
          <ac:chgData name="Muhammad Arif" userId="23ae7a8cb3dec40c" providerId="LiveId" clId="{CCC86FAD-04DB-4BD4-AA2C-6BF4D25A0221}" dt="2026-10-15T02:40:32.884" v="409"/>
          <ac:spMkLst>
            <pc:docMk/>
            <pc:sldMk cId="1654495860" sldId="395"/>
            <ac:spMk id="7" creationId="{6D3DDCB3-E368-BE79-B72E-984128F93D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4E348-7CA5-4B80-8451-230166B7F94A}" type="datetimeFigureOut">
              <a:rPr lang="en-PK" smtClean="0"/>
              <a:t>10/17/2026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A2B93-654B-48AD-A8BE-B89FC6C1D18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515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2F68C69-C7CA-4491-B1BF-1A702086AF9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75A9-AE18-467C-9830-753713F0CBD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59239D-FB3F-4AF2-99DC-A2B5190FBC6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CBA5-713C-4DE3-9047-BC5DEF2DDD7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C681-66A8-4D2A-9CB9-871F6972893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3F43-77B5-45E9-B703-1D048099E35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4D45-631B-4CFD-9312-E5D8A819090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2117B5-CCDD-496B-B77B-B14C72CB847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F98F52-B2AA-42AF-980B-D9BF9BCC2F8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D3AE-64A6-4CC3-80CF-6675B207365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6D4D-987A-450D-9AE9-98AAE1A2044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F34D406-B9EC-4E27-8157-22870124B96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462-025-11198-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588" y="1272986"/>
            <a:ext cx="8828815" cy="1995116"/>
          </a:xfrm>
        </p:spPr>
        <p:txBody>
          <a:bodyPr/>
          <a:lstStyle/>
          <a:p>
            <a:r>
              <a:rPr lang="en-US" sz="2800" b="1" cap="none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Generalized Tangent </a:t>
            </a:r>
            <a:r>
              <a:rPr lang="en-US" sz="2800" b="1" cap="none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Hyperbolic Exponential </a:t>
            </a:r>
            <a:r>
              <a:rPr lang="en-US" sz="2800" b="1" cap="none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Activation Function with a Variable Exponential Base for Deep Neural Networks</a:t>
            </a:r>
            <a:br>
              <a:rPr lang="en-US" sz="2800" b="1" cap="none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Sitka Heading Semibold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663FB-9FD4-41FC-98FD-0DC33FA95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58" y="4876960"/>
            <a:ext cx="6831673" cy="897307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by:Muhammad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Umair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(20242-35517)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by:Dr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Faiza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RubabYousuf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 CCSIS, </a:t>
            </a:r>
            <a:r>
              <a:rPr lang="en-US" sz="14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IoBM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4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Co-Supervised by: Dr. Urooj Yousuf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 CCSIS, IoBM)</a:t>
            </a:r>
          </a:p>
          <a:p>
            <a:endParaRPr lang="en-PK" sz="1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510550" y="3285100"/>
            <a:ext cx="9170893" cy="7875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/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MATHEMATICS AND STATISTICS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4195" marR="633730" indent="671830"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COLLEGE OF COMPUTER SCIENCE &amp;</a:t>
            </a:r>
            <a:r>
              <a:rPr lang="en-US" sz="16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SYSTEMS</a:t>
            </a:r>
            <a:r>
              <a:rPr lang="en-US" sz="16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(CCSIS)</a:t>
            </a:r>
          </a:p>
          <a:p>
            <a:pPr marL="544195" marR="633730" indent="671830">
              <a:spcAft>
                <a:spcPts val="0"/>
              </a:spcAft>
            </a:pP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US" sz="1600" b="1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US" sz="16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16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(IOBM) </a:t>
            </a:r>
            <a:endParaRPr lang="en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16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1887" y="720319"/>
            <a:ext cx="5247972" cy="421354"/>
          </a:xfrm>
        </p:spPr>
        <p:txBody>
          <a:bodyPr/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44705" y="1668701"/>
            <a:ext cx="4086225" cy="3826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715645" marR="63373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715645" marR="63373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44195" marR="633730" indent="671830">
              <a:lnSpc>
                <a:spcPct val="150000"/>
              </a:lnSpc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319064AD-565C-4CF8-9AB5-D223BAAE0B13}"/>
              </a:ext>
            </a:extLst>
          </p:cNvPr>
          <p:cNvSpPr txBox="1">
            <a:spLocks/>
          </p:cNvSpPr>
          <p:nvPr/>
        </p:nvSpPr>
        <p:spPr>
          <a:xfrm>
            <a:off x="6464264" y="1668701"/>
            <a:ext cx="4086225" cy="3385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&amp; Discussion</a:t>
            </a:r>
          </a:p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715645" marR="633730" indent="-1714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 marL="715645" marR="633730" indent="-171450" algn="l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4195" marR="633730" indent="671830">
              <a:lnSpc>
                <a:spcPct val="150000"/>
              </a:lnSpc>
              <a:spcAft>
                <a:spcPts val="0"/>
              </a:spcAft>
            </a:pPr>
            <a:endParaRPr lang="en-US" sz="1200" dirty="0"/>
          </a:p>
          <a:p>
            <a:pPr marL="544195" marR="633730" indent="671830">
              <a:lnSpc>
                <a:spcPct val="150000"/>
              </a:lnSpc>
              <a:spcAft>
                <a:spcPts val="0"/>
              </a:spcAft>
            </a:pPr>
            <a:endParaRPr lang="en-PK" sz="1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86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334" y="3007646"/>
            <a:ext cx="5395331" cy="421354"/>
          </a:xfrm>
        </p:spPr>
        <p:txBody>
          <a:bodyPr/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and Background</a:t>
            </a:r>
            <a:endParaRPr lang="en-PK" sz="40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714" y="1144257"/>
            <a:ext cx="5395331" cy="421354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br>
              <a:rPr lang="en-PK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4B9FF-01DA-1828-B066-B39533578928}"/>
              </a:ext>
            </a:extLst>
          </p:cNvPr>
          <p:cNvSpPr txBox="1"/>
          <p:nvPr/>
        </p:nvSpPr>
        <p:spPr>
          <a:xfrm>
            <a:off x="1420448" y="1859339"/>
            <a:ext cx="61736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machine learning models inspired by the way the human brain processes information.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consist of interconnected layers of neurons that learn patterns from data and make predictions.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neuron receives inputs, applies weights and bias, and produces an output.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(DNNs) contain multiple hidden layers for learning complex patterns.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widely used for classification, prediction, and pattern recognition.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_neural_network">
            <a:extLst>
              <a:ext uri="{FF2B5EF4-FFF2-40B4-BE49-F238E27FC236}">
                <a16:creationId xmlns:a16="http://schemas.microsoft.com/office/drawing/2014/main" id="{2D640B85-3DB0-7CB2-F296-1F7E0401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077" y="1700981"/>
            <a:ext cx="3427884" cy="40127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94867D-0E91-2A82-2030-39A1F892BF58}"/>
              </a:ext>
            </a:extLst>
          </p:cNvPr>
          <p:cNvSpPr txBox="1"/>
          <p:nvPr/>
        </p:nvSpPr>
        <p:spPr>
          <a:xfrm>
            <a:off x="1651819" y="1380945"/>
            <a:ext cx="2052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5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43A3B-212B-AEAA-FA26-8AAD094A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1C4A-05C7-860E-43E3-FE2E391E0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5211" y="1048858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br>
              <a:rPr lang="en-PK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35A7EF-33D8-EED8-7464-0FD75650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5FFC1-8C5B-2DAE-28E7-1E0D0739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C346E-A0FD-14B5-6756-2AC2B34E8D4A}"/>
              </a:ext>
            </a:extLst>
          </p:cNvPr>
          <p:cNvSpPr txBox="1"/>
          <p:nvPr/>
        </p:nvSpPr>
        <p:spPr>
          <a:xfrm>
            <a:off x="1492958" y="1842783"/>
            <a:ext cx="9234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activation function is applied to the weighted sum of inputs before producing the final output of a neuron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non-linearity, allowing the network to learn complex patterns.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mathematical properties affect gradient propagation, learning behavior, and convergence.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19C28-18AA-FBA9-F944-E3274AAFE069}"/>
              </a:ext>
            </a:extLst>
          </p:cNvPr>
          <p:cNvSpPr txBox="1"/>
          <p:nvPr/>
        </p:nvSpPr>
        <p:spPr>
          <a:xfrm>
            <a:off x="1651819" y="1380945"/>
            <a:ext cx="4442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 in Deep Learning</a:t>
            </a:r>
          </a:p>
        </p:txBody>
      </p:sp>
      <p:pic>
        <p:nvPicPr>
          <p:cNvPr id="8" name="Picture 7" descr="Activation-functions-in-Neural-Networks">
            <a:extLst>
              <a:ext uri="{FF2B5EF4-FFF2-40B4-BE49-F238E27FC236}">
                <a16:creationId xmlns:a16="http://schemas.microsoft.com/office/drawing/2014/main" id="{B3911D73-EFF8-950D-9187-ED5B2A38A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542" y="3381839"/>
            <a:ext cx="5574890" cy="227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6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5211" y="1048858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br>
              <a:rPr lang="en-PK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8F5F4-D060-E387-F6E6-C01716E4980E}"/>
              </a:ext>
            </a:extLst>
          </p:cNvPr>
          <p:cNvSpPr txBox="1"/>
          <p:nvPr/>
        </p:nvSpPr>
        <p:spPr>
          <a:xfrm>
            <a:off x="1651819" y="1380945"/>
            <a:ext cx="382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 in Neural 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BB6213-F2FA-CB70-A64C-B988EB2103F3}"/>
              </a:ext>
            </a:extLst>
          </p:cNvPr>
          <p:cNvSpPr txBox="1"/>
          <p:nvPr/>
        </p:nvSpPr>
        <p:spPr>
          <a:xfrm>
            <a:off x="1420448" y="1859339"/>
            <a:ext cx="6173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loss function measures the difference between the predicted output and the actual target.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numerical measure of the prediction error.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losses [22] are: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ACDAE5-026F-05F8-8081-AD17A29A8608}"/>
                  </a:ext>
                </a:extLst>
              </p:cNvPr>
              <p:cNvSpPr txBox="1"/>
              <p:nvPr/>
            </p:nvSpPr>
            <p:spPr>
              <a:xfrm>
                <a:off x="1492959" y="2947201"/>
                <a:ext cx="4744504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𝑆𝑞𝑢𝑎𝑟𝑒𝑑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ACDAE5-026F-05F8-8081-AD17A29A8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959" y="2947201"/>
                <a:ext cx="4744504" cy="778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AC5E91-063A-A86D-765E-BD164D9D0C8D}"/>
                  </a:ext>
                </a:extLst>
              </p:cNvPr>
              <p:cNvSpPr txBox="1"/>
              <p:nvPr/>
            </p:nvSpPr>
            <p:spPr>
              <a:xfrm>
                <a:off x="1492959" y="3787860"/>
                <a:ext cx="4487639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𝐴𝑏𝑠𝑜𝑙𝑢𝑡𝑒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AC5E91-063A-A86D-765E-BD164D9D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959" y="3787860"/>
                <a:ext cx="4487639" cy="7789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891299-7CD4-71BC-B6E0-76ADCD80C76A}"/>
                  </a:ext>
                </a:extLst>
              </p:cNvPr>
              <p:cNvSpPr txBox="1"/>
              <p:nvPr/>
            </p:nvSpPr>
            <p:spPr>
              <a:xfrm>
                <a:off x="1492958" y="4606119"/>
                <a:ext cx="7197996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𝐵𝑖𝑛𝑎𝑟𝑦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𝐶𝑟𝑜𝑠𝑠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BCE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)+(1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891299-7CD4-71BC-B6E0-76ADCD80C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958" y="4606119"/>
                <a:ext cx="7197996" cy="7789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1699091-8778-33BC-E099-FF88139A7F24}"/>
              </a:ext>
            </a:extLst>
          </p:cNvPr>
          <p:cNvSpPr txBox="1"/>
          <p:nvPr/>
        </p:nvSpPr>
        <p:spPr>
          <a:xfrm>
            <a:off x="1543350" y="5362357"/>
            <a:ext cx="617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training, the main goal is to minimize the loss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49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D0046-E0A2-27D7-3800-69ECBB52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C0D68-875A-837A-1D64-8145FE2D8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5211" y="1048858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br>
              <a:rPr lang="en-PK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C12A0A-2CE6-D54E-C36E-D107BF54D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9C130-8127-FFB9-5167-5B8CD41C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D108E-BC7E-A075-7808-C78D47BC1B1F}"/>
              </a:ext>
            </a:extLst>
          </p:cNvPr>
          <p:cNvSpPr txBox="1"/>
          <p:nvPr/>
        </p:nvSpPr>
        <p:spPr>
          <a:xfrm>
            <a:off x="1651819" y="1380945"/>
            <a:ext cx="3805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in Neural networks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6DA953-F007-1EAD-BDF7-A0FC78119102}"/>
              </a:ext>
            </a:extLst>
          </p:cNvPr>
          <p:cNvSpPr txBox="1"/>
          <p:nvPr/>
        </p:nvSpPr>
        <p:spPr>
          <a:xfrm>
            <a:off x="1543349" y="1897694"/>
            <a:ext cx="8092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 neural network involves minimizing a loss function.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algorithms update network parameters using the gradient of the loss function.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Optimizers refer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F9902F-ED72-FAE8-CAB4-6311B9DBB9B3}"/>
                  </a:ext>
                </a:extLst>
              </p:cNvPr>
              <p:cNvSpPr txBox="1"/>
              <p:nvPr/>
            </p:nvSpPr>
            <p:spPr>
              <a:xfrm>
                <a:off x="1651819" y="3159372"/>
                <a:ext cx="3480889" cy="407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𝐺𝑟𝑎𝑑𝑖𝑒𝑛𝑡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𝐷𝑒𝑠𝑐𝑒𝑛𝑡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F9902F-ED72-FAE8-CAB4-6311B9DBB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819" y="3159372"/>
                <a:ext cx="3480889" cy="407227"/>
              </a:xfrm>
              <a:prstGeom prst="rect">
                <a:avLst/>
              </a:prstGeom>
              <a:blipFill>
                <a:blip r:embed="rId3"/>
                <a:stretch>
                  <a:fillRect l="-1051" r="-52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E1C4FA-AF9D-E72A-E884-C4C659A5EEE9}"/>
                  </a:ext>
                </a:extLst>
              </p:cNvPr>
              <p:cNvSpPr txBox="1"/>
              <p:nvPr/>
            </p:nvSpPr>
            <p:spPr>
              <a:xfrm>
                <a:off x="1543349" y="3802504"/>
                <a:ext cx="431887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𝑀𝑜𝑚𝑒𝑛𝑡𝑢𝑚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  <a:p>
                <a:r>
                  <a:rPr lang="en-US" i="1" dirty="0"/>
                  <a:t>		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E1C4FA-AF9D-E72A-E884-C4C659A5E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49" y="3802504"/>
                <a:ext cx="4318875" cy="553998"/>
              </a:xfrm>
              <a:prstGeom prst="rect">
                <a:avLst/>
              </a:prstGeom>
              <a:blipFill>
                <a:blip r:embed="rId4"/>
                <a:stretch>
                  <a:fillRect l="-141" r="-846" b="-1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E9717C-86FB-761F-9EFA-ED6817761C0C}"/>
                  </a:ext>
                </a:extLst>
              </p:cNvPr>
              <p:cNvSpPr txBox="1"/>
              <p:nvPr/>
            </p:nvSpPr>
            <p:spPr>
              <a:xfrm>
                <a:off x="1543349" y="4636700"/>
                <a:ext cx="4375044" cy="9628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RMS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Prop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ea typeface="Cambria Math" panose="02040503050406030204" pitchFamily="18" charset="0"/>
                </a:endParaRPr>
              </a:p>
              <a:p>
                <a:r>
                  <a:rPr lang="en-US" b="0" i="1" dirty="0">
                    <a:ea typeface="Cambria Math" panose="02040503050406030204" pitchFamily="18" charset="0"/>
                  </a:rPr>
                  <a:t>		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E9717C-86FB-761F-9EFA-ED6817761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49" y="4636700"/>
                <a:ext cx="4375044" cy="962892"/>
              </a:xfrm>
              <a:prstGeom prst="rect">
                <a:avLst/>
              </a:prstGeom>
              <a:blipFill>
                <a:blip r:embed="rId5"/>
                <a:stretch>
                  <a:fillRect t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2F2A3F-1D94-C944-2C41-B2771796F528}"/>
                  </a:ext>
                </a:extLst>
              </p:cNvPr>
              <p:cNvSpPr txBox="1"/>
              <p:nvPr/>
            </p:nvSpPr>
            <p:spPr>
              <a:xfrm>
                <a:off x="6735770" y="3159372"/>
                <a:ext cx="3660233" cy="2211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ADAM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r>
                  <a:rPr lang="en-US" i="1" dirty="0"/>
                  <a:t>	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+(1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r>
                  <a:rPr lang="en-US" i="1" dirty="0"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r>
                  <a:rPr lang="en-US" i="1" dirty="0"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𝜗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2F2A3F-1D94-C944-2C41-B2771796F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770" y="3159372"/>
                <a:ext cx="3660233" cy="2211311"/>
              </a:xfrm>
              <a:prstGeom prst="rect">
                <a:avLst/>
              </a:prstGeom>
              <a:blipFill>
                <a:blip r:embed="rId6"/>
                <a:stretch>
                  <a:fillRect l="-2333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12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EB67C-3C87-B327-C068-18DC9BD3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B049A-E2C3-8CBD-6622-C59866B23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6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7D1B0-11A7-D4EC-762B-C9109DA7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A0E8-5C80-5009-8C6A-7702EC3CF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5211" y="1048858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br>
              <a:rPr lang="en-PK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AC8B-499C-D867-3EC0-6237C0A83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05261-C683-C578-9E03-5DE7CED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B198B-5608-3815-061E-31FA23BEE985}"/>
              </a:ext>
            </a:extLst>
          </p:cNvPr>
          <p:cNvSpPr txBox="1"/>
          <p:nvPr/>
        </p:nvSpPr>
        <p:spPr>
          <a:xfrm>
            <a:off x="1474523" y="1470212"/>
            <a:ext cx="90951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activation functions have limitations such as vanishing gradients, saturation, dead neurons, and computational complexity.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of activation function can affect convergence speed, training stability, and number of epochs.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activation functions can improve gradient behavior but may introduce additional computational operations.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to explore new mathematical formulations of activation functions.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710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334" y="3007646"/>
            <a:ext cx="5395331" cy="421354"/>
          </a:xfrm>
        </p:spPr>
        <p:txBody>
          <a:bodyPr/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PK" sz="40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82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63708-A41B-C300-6AFA-4EA83B60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FFFC120-92C9-D719-43A4-78CB71D97A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849946"/>
                  </p:ext>
                </p:extLst>
              </p:nvPr>
            </p:nvGraphicFramePr>
            <p:xfrm>
              <a:off x="698089" y="1"/>
              <a:ext cx="11415252" cy="7068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14483">
                      <a:extLst>
                        <a:ext uri="{9D8B030D-6E8A-4147-A177-3AD203B41FA5}">
                          <a16:colId xmlns:a16="http://schemas.microsoft.com/office/drawing/2014/main" val="3889108184"/>
                        </a:ext>
                      </a:extLst>
                    </a:gridCol>
                    <a:gridCol w="2292135">
                      <a:extLst>
                        <a:ext uri="{9D8B030D-6E8A-4147-A177-3AD203B41FA5}">
                          <a16:colId xmlns:a16="http://schemas.microsoft.com/office/drawing/2014/main" val="30569066"/>
                        </a:ext>
                      </a:extLst>
                    </a:gridCol>
                    <a:gridCol w="2596512">
                      <a:extLst>
                        <a:ext uri="{9D8B030D-6E8A-4147-A177-3AD203B41FA5}">
                          <a16:colId xmlns:a16="http://schemas.microsoft.com/office/drawing/2014/main" val="1408656613"/>
                        </a:ext>
                      </a:extLst>
                    </a:gridCol>
                    <a:gridCol w="2787923">
                      <a:extLst>
                        <a:ext uri="{9D8B030D-6E8A-4147-A177-3AD203B41FA5}">
                          <a16:colId xmlns:a16="http://schemas.microsoft.com/office/drawing/2014/main" val="3738051885"/>
                        </a:ext>
                      </a:extLst>
                    </a:gridCol>
                    <a:gridCol w="2424199">
                      <a:extLst>
                        <a:ext uri="{9D8B030D-6E8A-4147-A177-3AD203B41FA5}">
                          <a16:colId xmlns:a16="http://schemas.microsoft.com/office/drawing/2014/main" val="3123727170"/>
                        </a:ext>
                      </a:extLst>
                    </a:gridCol>
                  </a:tblGrid>
                  <a:tr h="3529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Reference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Year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Area of Research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Mathematical Notation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Key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strength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Gaps Identified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2560688"/>
                      </a:ext>
                    </a:extLst>
                  </a:tr>
                  <a:tr h="127458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[1] 1838,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[2] 2010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Mathematics and Statistics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𝑺𝒊𝒈𝒎𝒐𝒊𝒅</m:t>
                                </m:r>
                              </m:oMath>
                            </m:oMathPara>
                          </a14:m>
                          <a:endParaRPr lang="en-US" sz="1600" b="1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𝝈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b="1" i="1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Best for binary classification</a:t>
                          </a:r>
                        </a:p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Continuous and Differentiable</a:t>
                          </a:r>
                        </a:p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Clear Decision boundary </a:t>
                          </a:r>
                        </a:p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Vanishing Gradient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861603"/>
                      </a:ext>
                    </a:extLst>
                  </a:tr>
                  <a:tr h="8287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[3] 2010,</a:t>
                          </a: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[4] 2013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u="none" strike="noStrike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Deep Learning,</a:t>
                          </a:r>
                          <a:endParaRPr lang="en-US" sz="1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Neural</a:t>
                          </a:r>
                          <a:r>
                            <a:rPr lang="en-US" sz="1600" b="1" u="none" strike="noStrike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Network Architectures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𝑹𝒆𝑳𝑼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𝒎𝒂𝒙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Vanishing Gradient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Computational Simpler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Zero Gradient for negative inputs, Non- Smooth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7343110"/>
                      </a:ext>
                    </a:extLst>
                  </a:tr>
                  <a:tr h="10174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[5] 2015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𝑷𝑹𝒆𝑳𝑼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Allowed gradient for negative input values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gradient propagation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Non-smooth, Continuously differentiable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621486"/>
                      </a:ext>
                    </a:extLst>
                  </a:tr>
                  <a:tr h="108171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[6] 2016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effectLst/>
                            </a:rPr>
                            <a:t>E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𝑳𝑼</m:t>
                              </m:r>
                            </m:oMath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𝜶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sup>
                                        </m:sSup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 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Provides negative output unlike ReLU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learning speed and accuracy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6628481"/>
                      </a:ext>
                    </a:extLst>
                  </a:tr>
                  <a:tr h="10220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[7] 2017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Activations functions,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𝑺𝑬𝑳𝑼</m:t>
                                </m:r>
                              </m:oMath>
                            </m:oMathPara>
                          </a14:m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𝝀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≥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𝜶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sup>
                                        </m:sSup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 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Improves stability in during training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Maintain zero mean and variance across layers.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9781479"/>
                      </a:ext>
                    </a:extLst>
                  </a:tr>
                  <a:tr h="128049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[8] 2016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Activations functions, Reinforcement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𝑮𝑬𝑳𝑼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i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Provides a strong mathematical and probabilistic interpretation of activation behavior.</a:t>
                          </a:r>
                          <a:endParaRPr lang="en-US" sz="1600" i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parameter, complex computation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1418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FFFC120-92C9-D719-43A4-78CB71D97A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8849946"/>
                  </p:ext>
                </p:extLst>
              </p:nvPr>
            </p:nvGraphicFramePr>
            <p:xfrm>
              <a:off x="698089" y="1"/>
              <a:ext cx="11415252" cy="7068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14483">
                      <a:extLst>
                        <a:ext uri="{9D8B030D-6E8A-4147-A177-3AD203B41FA5}">
                          <a16:colId xmlns:a16="http://schemas.microsoft.com/office/drawing/2014/main" val="3889108184"/>
                        </a:ext>
                      </a:extLst>
                    </a:gridCol>
                    <a:gridCol w="2292135">
                      <a:extLst>
                        <a:ext uri="{9D8B030D-6E8A-4147-A177-3AD203B41FA5}">
                          <a16:colId xmlns:a16="http://schemas.microsoft.com/office/drawing/2014/main" val="30569066"/>
                        </a:ext>
                      </a:extLst>
                    </a:gridCol>
                    <a:gridCol w="2596512">
                      <a:extLst>
                        <a:ext uri="{9D8B030D-6E8A-4147-A177-3AD203B41FA5}">
                          <a16:colId xmlns:a16="http://schemas.microsoft.com/office/drawing/2014/main" val="1408656613"/>
                        </a:ext>
                      </a:extLst>
                    </a:gridCol>
                    <a:gridCol w="2787923">
                      <a:extLst>
                        <a:ext uri="{9D8B030D-6E8A-4147-A177-3AD203B41FA5}">
                          <a16:colId xmlns:a16="http://schemas.microsoft.com/office/drawing/2014/main" val="3738051885"/>
                        </a:ext>
                      </a:extLst>
                    </a:gridCol>
                    <a:gridCol w="2424199">
                      <a:extLst>
                        <a:ext uri="{9D8B030D-6E8A-4147-A177-3AD203B41FA5}">
                          <a16:colId xmlns:a16="http://schemas.microsoft.com/office/drawing/2014/main" val="3123727170"/>
                        </a:ext>
                      </a:extLst>
                    </a:gridCol>
                  </a:tblGrid>
                  <a:tr h="5089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Reference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Year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Area of Research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Mathematical Notation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Key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strength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Gaps Identified</a:t>
                          </a:r>
                          <a:endParaRPr lang="en-US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2560688"/>
                      </a:ext>
                    </a:extLst>
                  </a:tr>
                  <a:tr h="128701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[1] 1838,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[2] 2010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Mathematics and Statistics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02" t="-44550" r="-201408" b="-4109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Best for binary classification</a:t>
                          </a:r>
                        </a:p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Continuous and Differentiable</a:t>
                          </a:r>
                        </a:p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Clear Decision boundary </a:t>
                          </a:r>
                        </a:p>
                        <a:p>
                          <a:pPr marL="285750" marR="0" indent="-28575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endParaRPr lang="en-US" sz="1600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Vanishing Gradient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861603"/>
                      </a:ext>
                    </a:extLst>
                  </a:tr>
                  <a:tr h="82873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[3] 2010,</a:t>
                          </a: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[4] 2013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u="none" strike="noStrike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Deep Learning,</a:t>
                          </a:r>
                          <a:endParaRPr lang="en-US" sz="1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Neural</a:t>
                          </a:r>
                          <a:r>
                            <a:rPr lang="en-US" sz="1600" b="1" u="none" strike="noStrike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Network Architectures</a:t>
                          </a:r>
                          <a:endParaRPr lang="en-US" sz="1400" b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02" t="-224265" r="-201408" b="-5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Vanishing Gradient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Computational Simpler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Zero Gradient for negative inputs, Non- Smooth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7343110"/>
                      </a:ext>
                    </a:extLst>
                  </a:tr>
                  <a:tr h="102609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[5] 2015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02" t="-262500" r="-201408" b="-335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Allowed gradient for negative input values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gradient propagation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Non-smooth, Continuously differentiable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621486"/>
                      </a:ext>
                    </a:extLst>
                  </a:tr>
                  <a:tr h="109226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[6] 2016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02" t="-340223" r="-201408" b="-214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Provides negative output unlike ReLU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learning speed and accuracy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6628481"/>
                      </a:ext>
                    </a:extLst>
                  </a:tr>
                  <a:tr h="10320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[7] 2017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Activations functions,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02" t="-463529" r="-201408" b="-12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Improves stability in during training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Maintain zero mean and variance across layers.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9781479"/>
                      </a:ext>
                    </a:extLst>
                  </a:tr>
                  <a:tr h="129298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[8] 2016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Activations functions, Reinforcement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02" t="-451887" r="-201408" b="-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Provides a strong mathematical and probabilistic interpretation of activation behavior.</a:t>
                          </a:r>
                          <a:endParaRPr lang="en-US" sz="1600" i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parameter, complex computation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14185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939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3CA70-40AA-CD61-4094-A1DC7FF1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E7F7F-C307-9B60-2D0A-B5546C2A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38811CE-3088-DB05-C22F-180928FD50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203327"/>
                  </p:ext>
                </p:extLst>
              </p:nvPr>
            </p:nvGraphicFramePr>
            <p:xfrm>
              <a:off x="717754" y="9833"/>
              <a:ext cx="11474246" cy="65240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21276">
                      <a:extLst>
                        <a:ext uri="{9D8B030D-6E8A-4147-A177-3AD203B41FA5}">
                          <a16:colId xmlns:a16="http://schemas.microsoft.com/office/drawing/2014/main" val="3889108184"/>
                        </a:ext>
                      </a:extLst>
                    </a:gridCol>
                    <a:gridCol w="2303981">
                      <a:extLst>
                        <a:ext uri="{9D8B030D-6E8A-4147-A177-3AD203B41FA5}">
                          <a16:colId xmlns:a16="http://schemas.microsoft.com/office/drawing/2014/main" val="30569066"/>
                        </a:ext>
                      </a:extLst>
                    </a:gridCol>
                    <a:gridCol w="2609931">
                      <a:extLst>
                        <a:ext uri="{9D8B030D-6E8A-4147-A177-3AD203B41FA5}">
                          <a16:colId xmlns:a16="http://schemas.microsoft.com/office/drawing/2014/main" val="1408656613"/>
                        </a:ext>
                      </a:extLst>
                    </a:gridCol>
                    <a:gridCol w="2802331">
                      <a:extLst>
                        <a:ext uri="{9D8B030D-6E8A-4147-A177-3AD203B41FA5}">
                          <a16:colId xmlns:a16="http://schemas.microsoft.com/office/drawing/2014/main" val="3738051885"/>
                        </a:ext>
                      </a:extLst>
                    </a:gridCol>
                    <a:gridCol w="2436727">
                      <a:extLst>
                        <a:ext uri="{9D8B030D-6E8A-4147-A177-3AD203B41FA5}">
                          <a16:colId xmlns:a16="http://schemas.microsoft.com/office/drawing/2014/main" val="3123727170"/>
                        </a:ext>
                      </a:extLst>
                    </a:gridCol>
                  </a:tblGrid>
                  <a:tr h="40336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Reference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Year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Area of Research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Mathematical Notation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Key Strengths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Gaps Identified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2560688"/>
                      </a:ext>
                    </a:extLst>
                  </a:tr>
                  <a:tr h="58969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[9] 2018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Activations functions, Reinforcement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𝑺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𝑳𝑼</m:t>
                                </m:r>
                              </m:oMath>
                            </m:oMathPara>
                          </a14:m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𝝈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num>
                                  <m:den>
                                    <m: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600" b="1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1" i="1" kern="120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b="1" i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Smooth, non-monotonic activation with improved function approximation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parameter, complex computation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861603"/>
                      </a:ext>
                    </a:extLst>
                  </a:tr>
                  <a:tr h="9472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[10] 2018</a:t>
                          </a: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𝑺𝒘𝒊𝒔𝒉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𝝈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𝜷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Smooth and non-monotonic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Favorable gradient behavior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parameter, complex computation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7343110"/>
                      </a:ext>
                    </a:extLst>
                  </a:tr>
                  <a:tr h="141306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[11] 2020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𝑴𝒊𝒔𝒉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𝒙𝒕𝒂𝒏𝒉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𝒍𝒏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Smooth and non-monotonic</a:t>
                          </a:r>
                        </a:p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Demonstrated competitive performance against ReLU, Swish, and other popular activation functions.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 computation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621486"/>
                      </a:ext>
                    </a:extLst>
                  </a:tr>
                  <a:tr h="116099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[12] 2021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 err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TanhExp</a:t>
                          </a:r>
                          <a:endParaRPr lang="en-US" sz="1600" b="1" i="1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)=</m:t>
                              </m:r>
                            </m:oMath>
                          </a14:m>
                          <a:r>
                            <a:rPr lang="en-US" sz="1600" b="1" i="1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xtanh</a:t>
                          </a:r>
                          <a:r>
                            <a:rPr lang="en-US" sz="1600" b="1" i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sz="1600" b="1" i="1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sup>
                              </m:sSup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Provides negative output unlike ReLU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learning speed and accuracy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6628481"/>
                      </a:ext>
                    </a:extLst>
                  </a:tr>
                  <a:tr h="112363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[13] 2021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Mathematics,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 err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RsigELU</a:t>
                          </a:r>
                          <a:endParaRPr lang="en-US" sz="1600" b="1" i="1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1600" b="1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𝝈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𝜶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  </m:t>
                                        </m:r>
                                      </m:e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</m:e>
                                      <m:e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𝜷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sup>
                                        </m:sSup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sz="1600" b="1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Combines properties of Sigmoid and ELU to provide effective nonlinear transformation and improve neural-network learning and convergence</a:t>
                          </a:r>
                          <a:r>
                            <a:rPr lang="en-US" sz="1600" dirty="0"/>
                            <a:t>.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Convergence behavior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7907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38811CE-3088-DB05-C22F-180928FD50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203327"/>
                  </p:ext>
                </p:extLst>
              </p:nvPr>
            </p:nvGraphicFramePr>
            <p:xfrm>
              <a:off x="717754" y="9833"/>
              <a:ext cx="11474246" cy="65240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21276">
                      <a:extLst>
                        <a:ext uri="{9D8B030D-6E8A-4147-A177-3AD203B41FA5}">
                          <a16:colId xmlns:a16="http://schemas.microsoft.com/office/drawing/2014/main" val="3889108184"/>
                        </a:ext>
                      </a:extLst>
                    </a:gridCol>
                    <a:gridCol w="2303981">
                      <a:extLst>
                        <a:ext uri="{9D8B030D-6E8A-4147-A177-3AD203B41FA5}">
                          <a16:colId xmlns:a16="http://schemas.microsoft.com/office/drawing/2014/main" val="30569066"/>
                        </a:ext>
                      </a:extLst>
                    </a:gridCol>
                    <a:gridCol w="2609931">
                      <a:extLst>
                        <a:ext uri="{9D8B030D-6E8A-4147-A177-3AD203B41FA5}">
                          <a16:colId xmlns:a16="http://schemas.microsoft.com/office/drawing/2014/main" val="1408656613"/>
                        </a:ext>
                      </a:extLst>
                    </a:gridCol>
                    <a:gridCol w="2802331">
                      <a:extLst>
                        <a:ext uri="{9D8B030D-6E8A-4147-A177-3AD203B41FA5}">
                          <a16:colId xmlns:a16="http://schemas.microsoft.com/office/drawing/2014/main" val="3738051885"/>
                        </a:ext>
                      </a:extLst>
                    </a:gridCol>
                    <a:gridCol w="2436727">
                      <a:extLst>
                        <a:ext uri="{9D8B030D-6E8A-4147-A177-3AD203B41FA5}">
                          <a16:colId xmlns:a16="http://schemas.microsoft.com/office/drawing/2014/main" val="3123727170"/>
                        </a:ext>
                      </a:extLst>
                    </a:gridCol>
                  </a:tblGrid>
                  <a:tr h="5089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Reference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Year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Area of Research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Mathematical Notation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Key Strengths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Gaps Identified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2560688"/>
                      </a:ext>
                    </a:extLst>
                  </a:tr>
                  <a:tr h="103079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[9] 2018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Activations functions, Reinforcement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55621" r="-201636" b="-495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Smooth, non-monotonic activation with improved function approximation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parameter, complex computation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861603"/>
                      </a:ext>
                    </a:extLst>
                  </a:tr>
                  <a:tr h="9472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[10] 2018</a:t>
                          </a: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169677" r="-201636" b="-4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Smooth and non-monotonic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Favorable gradient behavior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parameter, complex computation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7343110"/>
                      </a:ext>
                    </a:extLst>
                  </a:tr>
                  <a:tr h="141306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[11] 2020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180172" r="-201636" b="-193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Smooth and non-monotonic</a:t>
                          </a:r>
                        </a:p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Demonstrated competitive performance against ReLU, Swish, and other popular activation functions.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 computation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621486"/>
                      </a:ext>
                    </a:extLst>
                  </a:tr>
                  <a:tr h="116099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[12] 2021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340314" r="-201636" b="-135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Provides negative output unlike ReLU</a:t>
                          </a:r>
                        </a:p>
                        <a:p>
                          <a:pPr marL="285750" marR="0" indent="-2857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Improved learning speed and accuracy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Fixed base. Limited Variation in parameter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6628481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[13] 2021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Mathematics,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350417" r="-201636" b="-7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Combines properties of Sigmoid and ELU to provide effective nonlinear transformation and improve neural-network learning and convergence</a:t>
                          </a:r>
                          <a:r>
                            <a:rPr lang="en-US" sz="1600" dirty="0"/>
                            <a:t>.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Convergence behavior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879074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8449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DFFDE-B986-726F-8896-4BB8F3AC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6306558-80B8-8EC6-D6FE-9532E3A27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742323"/>
                  </p:ext>
                </p:extLst>
              </p:nvPr>
            </p:nvGraphicFramePr>
            <p:xfrm>
              <a:off x="717754" y="9833"/>
              <a:ext cx="11474246" cy="36615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21276">
                      <a:extLst>
                        <a:ext uri="{9D8B030D-6E8A-4147-A177-3AD203B41FA5}">
                          <a16:colId xmlns:a16="http://schemas.microsoft.com/office/drawing/2014/main" val="3889108184"/>
                        </a:ext>
                      </a:extLst>
                    </a:gridCol>
                    <a:gridCol w="2303981">
                      <a:extLst>
                        <a:ext uri="{9D8B030D-6E8A-4147-A177-3AD203B41FA5}">
                          <a16:colId xmlns:a16="http://schemas.microsoft.com/office/drawing/2014/main" val="30569066"/>
                        </a:ext>
                      </a:extLst>
                    </a:gridCol>
                    <a:gridCol w="2609931">
                      <a:extLst>
                        <a:ext uri="{9D8B030D-6E8A-4147-A177-3AD203B41FA5}">
                          <a16:colId xmlns:a16="http://schemas.microsoft.com/office/drawing/2014/main" val="1408656613"/>
                        </a:ext>
                      </a:extLst>
                    </a:gridCol>
                    <a:gridCol w="2802331">
                      <a:extLst>
                        <a:ext uri="{9D8B030D-6E8A-4147-A177-3AD203B41FA5}">
                          <a16:colId xmlns:a16="http://schemas.microsoft.com/office/drawing/2014/main" val="3738051885"/>
                        </a:ext>
                      </a:extLst>
                    </a:gridCol>
                    <a:gridCol w="2436727">
                      <a:extLst>
                        <a:ext uri="{9D8B030D-6E8A-4147-A177-3AD203B41FA5}">
                          <a16:colId xmlns:a16="http://schemas.microsoft.com/office/drawing/2014/main" val="3123727170"/>
                        </a:ext>
                      </a:extLst>
                    </a:gridCol>
                  </a:tblGrid>
                  <a:tr h="4916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Reference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Area of Research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Mathematical Notation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Key Strengths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Gaps Identified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2560688"/>
                      </a:ext>
                    </a:extLst>
                  </a:tr>
                  <a:tr h="68801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[14] 2022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Design and development of novel activation functions for deep learning</a:t>
                          </a:r>
                          <a:endParaRPr lang="en-US" sz="16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𝑨𝑷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𝜶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𝒕𝒂𝒏𝒉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𝜷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))∗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𝜸</m:t>
                                </m:r>
                                <m:r>
                                  <a:rPr lang="en-US" sz="16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b="1" i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Proposes </a:t>
                          </a:r>
                          <a:r>
                            <a:rPr lang="en-US" sz="16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APTx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 an alternative activation function and compares its performance with Mish, Swish, and ReLU variants.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 behavior, convergence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861603"/>
                      </a:ext>
                    </a:extLst>
                  </a:tr>
                  <a:tr h="9472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sz="1600" b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15] 2025</a:t>
                          </a: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b="1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𝑹𝒐𝑺𝒘𝒊𝒔𝒉</m:t>
                                </m:r>
                              </m:oMath>
                            </m:oMathPara>
                          </a14:m>
                          <a:endParaRPr lang="en-US" sz="1600" b="1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)=</m:t>
                              </m:r>
                            </m:oMath>
                          </a14:m>
                          <a:r>
                            <a:rPr lang="en-US" sz="1600" b="1" i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(x+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oMath>
                          </a14:m>
                          <a:r>
                            <a:rPr lang="en-US" sz="1600" b="1" i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).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)−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  <m:r>
                                <a:rPr lang="en-US" sz="1600" b="1" i="1" dirty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oMath>
                          </a14:m>
                          <a:endParaRPr lang="en-US" sz="1600" b="1" i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Introduces an adaptive rotation mechanism around zero, providing greater flexibility in shaping the activation function and potentially improving network learning performance.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Further theoretical analysis is needed regarding its mathematical properties, gradient behavior, convergence guarantees, and stability across diverse architectures and datasets.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73431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6306558-80B8-8EC6-D6FE-9532E3A27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0742323"/>
                  </p:ext>
                </p:extLst>
              </p:nvPr>
            </p:nvGraphicFramePr>
            <p:xfrm>
              <a:off x="717754" y="9833"/>
              <a:ext cx="11474246" cy="36615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21276">
                      <a:extLst>
                        <a:ext uri="{9D8B030D-6E8A-4147-A177-3AD203B41FA5}">
                          <a16:colId xmlns:a16="http://schemas.microsoft.com/office/drawing/2014/main" val="3889108184"/>
                        </a:ext>
                      </a:extLst>
                    </a:gridCol>
                    <a:gridCol w="2303981">
                      <a:extLst>
                        <a:ext uri="{9D8B030D-6E8A-4147-A177-3AD203B41FA5}">
                          <a16:colId xmlns:a16="http://schemas.microsoft.com/office/drawing/2014/main" val="30569066"/>
                        </a:ext>
                      </a:extLst>
                    </a:gridCol>
                    <a:gridCol w="2609931">
                      <a:extLst>
                        <a:ext uri="{9D8B030D-6E8A-4147-A177-3AD203B41FA5}">
                          <a16:colId xmlns:a16="http://schemas.microsoft.com/office/drawing/2014/main" val="1408656613"/>
                        </a:ext>
                      </a:extLst>
                    </a:gridCol>
                    <a:gridCol w="2802331">
                      <a:extLst>
                        <a:ext uri="{9D8B030D-6E8A-4147-A177-3AD203B41FA5}">
                          <a16:colId xmlns:a16="http://schemas.microsoft.com/office/drawing/2014/main" val="3738051885"/>
                        </a:ext>
                      </a:extLst>
                    </a:gridCol>
                    <a:gridCol w="2436727">
                      <a:extLst>
                        <a:ext uri="{9D8B030D-6E8A-4147-A177-3AD203B41FA5}">
                          <a16:colId xmlns:a16="http://schemas.microsoft.com/office/drawing/2014/main" val="3123727170"/>
                        </a:ext>
                      </a:extLst>
                    </a:gridCol>
                  </a:tblGrid>
                  <a:tr h="4916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Reference</a:t>
                          </a:r>
                          <a:r>
                            <a:rPr lang="en-US" sz="1600" b="1" baseline="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Area of Research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defTabSz="914400" rtl="0" eaLnBrk="1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Mathematical Notation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Key Strengths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Gaps Identified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2560688"/>
                      </a:ext>
                    </a:extLst>
                  </a:tr>
                  <a:tr h="12192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[14] 2022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Design and development of novel activation functions for deep learning</a:t>
                          </a:r>
                          <a:endParaRPr lang="en-US" sz="16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45500" r="-201636" b="-170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Proposes </a:t>
                          </a:r>
                          <a:r>
                            <a:rPr lang="en-US" sz="16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APTx</a:t>
                          </a: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 an alternative activation function and compares its performance with Mish, Swish, and ReLU variants.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 behavior, convergence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861603"/>
                      </a:ext>
                    </a:extLst>
                  </a:tr>
                  <a:tr h="1950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sz="1600" b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15] 2025</a:t>
                          </a: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600" b="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Artificial Intelligence, Machine Learning, Deep Learning</a:t>
                          </a:r>
                          <a:endParaRPr lang="en-US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9252" t="-90654" r="-201636" b="-6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indent="-28575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Introduces an adaptive rotation mechanism around zero, providing greater flexibility in shaping the activation function and potentially improving network learning performance.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Further theoretical analysis is needed regarding its mathematical properties, gradient behavior, convergence guarantees, and stability across diverse architectures and datasets.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73431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3101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  <a:endParaRPr lang="en-PK" sz="24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32660-140E-9189-A2EA-ED0DE84880F7}"/>
              </a:ext>
            </a:extLst>
          </p:cNvPr>
          <p:cNvSpPr txBox="1"/>
          <p:nvPr/>
        </p:nvSpPr>
        <p:spPr>
          <a:xfrm>
            <a:off x="1446327" y="1141673"/>
            <a:ext cx="85887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proposed activation functions are evaluated mainly through experimental accuracy, while their mathematical properties such as differentiability, smoothness, boundedness, Lipschitz continuity, and stationarity are not comprehensively analyzed.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networks can suffer from unstable gradient propagation, making optimization difficult, especially in very deep architectures.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suitable learning rates, optimizers, initialization, and network parameters remains challenging.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activation functions have different limitations, including dying neurons, saturation, gradient instability, and computational complexity.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networks can perform extremely well on training data but may not generalize effectively to unseen data.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modern deep networks can require substantial GPU resources, memory, energy, and training time.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414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03A3E-D19D-1226-EBDA-265E0B7D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B5EB-4B73-B5E1-4271-69226A414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5211" y="1048858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PK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1A14E-2F31-801B-7A43-5C7479B9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07958-F814-E6C2-16F6-C0E52F18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D3DE9A-343F-CE91-A226-31C7249EDC23}"/>
                  </a:ext>
                </a:extLst>
              </p:cNvPr>
              <p:cNvSpPr txBox="1"/>
              <p:nvPr/>
            </p:nvSpPr>
            <p:spPr>
              <a:xfrm>
                <a:off x="1492958" y="1842783"/>
                <a:ext cx="923403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00000"/>
                  </a:lnSpc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TeLU activation function uses a fixed exponential base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limiting the investigation of how base variation influences its mathematical properties and learning behavior.</a:t>
                </a: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0000"/>
                  </a:lnSpc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study generalizes TeLU by introducing a variable exponential base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investigate its effects on gradient behavior, convergence, and model accuracy.</a:t>
                </a:r>
              </a:p>
              <a:p>
                <a:pPr>
                  <a:lnSpc>
                    <a:spcPct val="100000"/>
                  </a:lnSpc>
                </a:pPr>
                <a:endParaRPr lang="en-US" sz="18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𝑧𝑡𝑎𝑛ℎ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&gt;1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D3DE9A-343F-CE91-A226-31C7249ED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958" y="1842783"/>
                <a:ext cx="9234036" cy="2031325"/>
              </a:xfrm>
              <a:prstGeom prst="rect">
                <a:avLst/>
              </a:prstGeom>
              <a:blipFill>
                <a:blip r:embed="rId3"/>
                <a:stretch>
                  <a:fillRect l="-462" t="-1497" b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331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376" y="720319"/>
            <a:ext cx="718827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of the research study</a:t>
            </a:r>
            <a:endParaRPr lang="en-PK" sz="24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26777" y="1354933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5555C-0829-464B-B799-99CEAB25D7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59"/>
          <a:stretch/>
        </p:blipFill>
        <p:spPr>
          <a:xfrm>
            <a:off x="8151961" y="1933046"/>
            <a:ext cx="2605685" cy="225422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07EAE2-87A5-7192-2F40-EEC69DD16ECA}"/>
                  </a:ext>
                </a:extLst>
              </p:cNvPr>
              <p:cNvSpPr txBox="1"/>
              <p:nvPr/>
            </p:nvSpPr>
            <p:spPr>
              <a:xfrm>
                <a:off x="1394793" y="1506353"/>
                <a:ext cx="923403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 </a:t>
                </a:r>
                <a:endParaRPr lang="en-US" dirty="0"/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following objectives are proposed to achieve the aims of this study:</a:t>
                </a: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propose the generalized tanh exponential activation 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function.</a:t>
                </a:r>
              </a:p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analyze the effect of variation in the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 mathematical properties, including differentiability, 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boundedness, stationarity, Lipschitz continuity, and </a:t>
                </a:r>
              </a:p>
              <a:p>
                <a:pPr lvl="0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smoothness properties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compare the performance (model accuracy, loss, training time) of our proposed activation function with established activation functions, including ReLU, Swish, and Mish, and TeLU.</a:t>
                </a:r>
              </a:p>
              <a:p>
                <a:pPr>
                  <a:lnSpc>
                    <a:spcPct val="100000"/>
                  </a:lnSpc>
                </a:pPr>
                <a:endParaRPr lang="en-US" sz="18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evaluate performance of parametrized activation function using different optimizers including Stochastic Gradient Descent, Momentum, RMSProp and Adam.</a:t>
                </a:r>
              </a:p>
              <a:p>
                <a:pPr marL="285750" indent="-285750">
                  <a:lnSpc>
                    <a:spcPct val="100000"/>
                  </a:lnSpc>
                  <a:buFont typeface="Wingdings" panose="05000000000000000000" pitchFamily="2" charset="2"/>
                  <a:buChar char="q"/>
                </a:pPr>
                <a:endParaRPr lang="en-US" sz="18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07EAE2-87A5-7192-2F40-EEC69DD1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793" y="1506353"/>
                <a:ext cx="9234036" cy="4524315"/>
              </a:xfrm>
              <a:prstGeom prst="rect">
                <a:avLst/>
              </a:prstGeom>
              <a:blipFill>
                <a:blip r:embed="rId4"/>
                <a:stretch>
                  <a:fillRect l="-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921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9376" y="720319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 lang="en-PK" sz="2400" dirty="0">
              <a:latin typeface="Sitka Heading Semibold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AB3B0-E6BC-1B49-C077-2F244A88EA0B}"/>
                  </a:ext>
                </a:extLst>
              </p:cNvPr>
              <p:cNvSpPr txBox="1"/>
              <p:nvPr/>
            </p:nvSpPr>
            <p:spPr>
              <a:xfrm>
                <a:off x="1546286" y="1354934"/>
                <a:ext cx="8158432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can the generalized Tanh Exponential activation function be formulated?</a:t>
                </a:r>
              </a:p>
              <a:p>
                <a:pPr lvl="0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does changing the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affect the mathematical properties of the generalized Tanh Exponential activation function, particularly its differentiability, boundedness, stationarity, Lipschitz continuity, and smoothness?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does the proposed activation function performance is compared with established activation functions, including ReLU, Swish, Mish, and TeLU, in terms of model accuracy, loss, and training time?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does the choice of optimization algorithm, including Stochastic Gradient Descent (SGD), Momentum, RMSProp, and Adam, affect the performance of the parameterized activation function? 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AB3B0-E6BC-1B49-C077-2F244A88E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86" y="1354934"/>
                <a:ext cx="8158432" cy="3970318"/>
              </a:xfrm>
              <a:prstGeom prst="rect">
                <a:avLst/>
              </a:prstGeom>
              <a:blipFill>
                <a:blip r:embed="rId3"/>
                <a:stretch>
                  <a:fillRect l="-523" t="-767" r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588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334" y="3218323"/>
            <a:ext cx="5395331" cy="421354"/>
          </a:xfrm>
        </p:spPr>
        <p:txBody>
          <a:bodyPr/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PK" sz="40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99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endParaRPr lang="en-PK" sz="28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5593D-AA3E-61A4-DB83-0AA6BC3E4CA5}"/>
              </a:ext>
            </a:extLst>
          </p:cNvPr>
          <p:cNvSpPr txBox="1"/>
          <p:nvPr/>
        </p:nvSpPr>
        <p:spPr>
          <a:xfrm>
            <a:off x="1977605" y="1490738"/>
            <a:ext cx="60945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34290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Datasets used in this research study are:</a:t>
            </a:r>
          </a:p>
          <a:p>
            <a:pPr marL="457200" marR="0" indent="-34290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FashionMNIST Dataset [23] on MLP architecture [28].</a:t>
            </a:r>
          </a:p>
          <a:p>
            <a:pPr marR="0" lvl="0">
              <a:lnSpc>
                <a:spcPct val="100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CIFAR-10 Dataset [24] with DenseNET CNN [29].</a:t>
            </a:r>
          </a:p>
          <a:p>
            <a:pPr marR="0" lvl="0">
              <a:lnSpc>
                <a:spcPct val="100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Penn Treebank Dataset [25] with RNN architecture [30].</a:t>
            </a:r>
          </a:p>
          <a:p>
            <a:pPr marR="0" lvl="0">
              <a:lnSpc>
                <a:spcPct val="100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CIFAR-100 [24] with SqueezeNext [31].</a:t>
            </a:r>
          </a:p>
          <a:p>
            <a:pPr marR="0" lvl="0">
              <a:lnSpc>
                <a:spcPct val="100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Tiny ImageNet Dataset [26] with Resnet34 [32].</a:t>
            </a:r>
          </a:p>
          <a:p>
            <a:pPr marR="0" lvl="0">
              <a:lnSpc>
                <a:spcPct val="100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CDC Diabetes Health Indicators Data [27]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2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E3E81-65DA-6974-67FF-62A8B74A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3E80-CD92-676E-9D31-3C380FFBF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 size</a:t>
            </a:r>
            <a:endParaRPr lang="en-PK" sz="28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D52AEE-9408-6FAB-26C9-17BA5E8FB0A8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0077B-0110-E8D2-86FE-92AD4EE9D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BDCBF-1941-DBF6-6ECE-2D14AB53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803D5F-3CBA-C31D-8D2B-854FFB2C3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040" y="1490739"/>
            <a:ext cx="9462616" cy="348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2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68873-83C6-0118-0F5B-2893DEE3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BFFD2-C6BA-1ECD-CCF7-A3D478767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MNEST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C43EB4-B1B0-AE38-7769-63E32198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20B33-D366-208B-06D2-43A25D6F0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77620-AC49-FE99-9A35-A9EE53A04950}"/>
              </a:ext>
            </a:extLst>
          </p:cNvPr>
          <p:cNvSpPr txBox="1"/>
          <p:nvPr/>
        </p:nvSpPr>
        <p:spPr>
          <a:xfrm>
            <a:off x="1426998" y="1354934"/>
            <a:ext cx="87297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Fashion-MNIST is a dataset containing ten classes. The original MNIST dataset contains plentiful handwritten digits. Members of the AI/ML/Data Science community consider this dataset and use it as a reference to test their models. Refer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parameters are: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Split: 50,000 / 10,000 / 10,000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Hidden Layers: 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Neurons in each layer: 128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Technique: Mini-Batch SGD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Momentum: 0.9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128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0.005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Decay: 0.0005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100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Trials: 10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779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DD59C-AB02-E8E4-2AB3-DA0310DC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39E6-67E3-FBB6-42C7-59C8D1D6E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 Dense Net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5A2F38-6894-7303-DE40-DF1924745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D5C56-6AF0-CB66-1E35-FF04D96E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D4FEE-F52F-9DBD-DED9-53434E13F7D7}"/>
              </a:ext>
            </a:extLst>
          </p:cNvPr>
          <p:cNvSpPr txBox="1"/>
          <p:nvPr/>
        </p:nvSpPr>
        <p:spPr>
          <a:xfrm>
            <a:off x="1426998" y="1354934"/>
            <a:ext cx="87297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CIFAR-10 dataset consists of sixty thousand 32x32 color images in ten classes, with six thousand images per class. The ten classes in CIFAR-10 are airplanes, cars, birds, cats, deer, dogs, frogs, horses, ships, and trucks. Refer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parameters are: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Split: 40,000 / 10,000 / 10,000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Dense Net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Technique: Mini-Batch SGD with momentum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128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Learning Rate: 0.1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Scheduling period: 30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100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Trials: 10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763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B405B-5148-F695-6D43-417DD5DA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519F-BC30-CDCB-2B19-FA001BDC1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 tree bank rnn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296D5-F263-96E7-26D9-C036199F6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B3384-951F-1A09-94EE-ADCD1A4D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C943D-0457-257F-CA04-C3E4508C98E8}"/>
              </a:ext>
            </a:extLst>
          </p:cNvPr>
          <p:cNvSpPr txBox="1"/>
          <p:nvPr/>
        </p:nvSpPr>
        <p:spPr>
          <a:xfrm>
            <a:off x="1426998" y="1354934"/>
            <a:ext cx="87297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 Treebank (PTB) dataset, is commonly utilized in machine learning for NLP (Natural Language Processing). Refer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parameters are: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Split: 930,000 /72,000 /82,000 words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LSTM RNN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Technique: Mini-Batch SGD with momentum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size: 550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Hidden layers: 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hidden layer: 750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Dropout: 0.65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20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Trials: 10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Epochs: 100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87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27F93-7A86-79F8-5930-2B946E24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3A51-B579-D5B0-E85C-6CF75D027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Cifar-100  Squeeze next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A2B84-0A3D-A3E4-802D-04E843250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DD028-BAF9-CF2B-6326-4CF1B279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8119F5-E49F-3015-9424-D51C9061E282}"/>
              </a:ext>
            </a:extLst>
          </p:cNvPr>
          <p:cNvSpPr txBox="1"/>
          <p:nvPr/>
        </p:nvSpPr>
        <p:spPr>
          <a:xfrm>
            <a:off x="1426998" y="1354934"/>
            <a:ext cx="87297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is just like CIFAR-10, except that it has hundred classes containing six hundred images each making total of sixty thousand images. Refer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parameters are: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Split: 45,000 /15,000 /10,000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SqueezeNext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Technique: Mini-Batch SGD, Momentum, RMS-Prop, Adam W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128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Trials: 10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Epochs: 100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831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3065D-3E23-3D3A-9F3C-501824DE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4459-7821-117F-8D41-22938AB89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 image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E2EEB-6EA0-3EA6-381B-A12CD6F6C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AFE0A-B739-7245-049A-25336B90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1B3F6-17B6-C47E-A35C-320AE4FC0D77}"/>
              </a:ext>
            </a:extLst>
          </p:cNvPr>
          <p:cNvSpPr txBox="1"/>
          <p:nvPr/>
        </p:nvSpPr>
        <p:spPr>
          <a:xfrm>
            <a:off x="1426998" y="1354934"/>
            <a:ext cx="87297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image dataset containing two hundred classes. Refer 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parameters are: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Split: 100,000 /10,000 /10,000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ResNet34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Technique: Mini-Batch SGD, Momentum, RMS-Prop, Adam W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128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Trials: 10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Epochs: 100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582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C8198-1478-7D0B-B63E-005B3CDC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4685-C753-6FF8-48D8-3A889C99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6659353" cy="421354"/>
          </a:xfrm>
        </p:spPr>
        <p:txBody>
          <a:bodyPr/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 Diabetes Health Indicators dataset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984FB-375F-B8D5-BEF6-9C963A7FD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41033-650D-9E59-4C9A-09D1F3C2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3D2D0-EF29-22BA-F80D-A2D2B55BAC73}"/>
              </a:ext>
            </a:extLst>
          </p:cNvPr>
          <p:cNvSpPr txBox="1"/>
          <p:nvPr/>
        </p:nvSpPr>
        <p:spPr>
          <a:xfrm>
            <a:off x="1426998" y="1354934"/>
            <a:ext cx="87297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tabular dataset containing twenty-one features. The specs [33] are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Train/Val/Test Split: 202,944 / 25,368/ 25,368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MLP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Technique: Mini-Batch SGD, Momentum, RMS-Prop, Adam W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20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0.001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Epochs: 100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66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A9F3CA1-58C3-4BE0-8478-938AE2E91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334" y="3218323"/>
            <a:ext cx="5395331" cy="421354"/>
          </a:xfrm>
        </p:spPr>
        <p:txBody>
          <a:bodyPr/>
          <a:lstStyle/>
          <a:p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</a:t>
            </a: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PK" sz="4000" dirty="0">
              <a:latin typeface="Sitka Heading Semibold" pitchFamily="2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182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647" y="720319"/>
            <a:ext cx="5395331" cy="421354"/>
          </a:xfrm>
        </p:spPr>
        <p:txBody>
          <a:bodyPr/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PK" sz="24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0F3846-F4FD-61F1-1BB0-205C10B00630}"/>
                  </a:ext>
                </a:extLst>
              </p:cNvPr>
              <p:cNvSpPr txBox="1"/>
              <p:nvPr/>
            </p:nvSpPr>
            <p:spPr>
              <a:xfrm>
                <a:off x="1546286" y="1354934"/>
                <a:ext cx="8158432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generalized Tanh Exponential activation function is expected to provide a flexible nonlinear transformation whose behavior can be controlled through the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mathematical analysis is expected to identify the values or ranges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which the proposed function exhibits desirable continuity, differentiability, range, and asymptotic characteristics.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experimental evaluation is expected to identify whether the proposed activation function can achieve competitive or improved model accuracy, lower loss, and reduced training time compared with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Swish, Mish, and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TeLU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evaluation with different optimization methods is expected to reveal how the choice of optimizer influences characteristics of the proposed activation function, and to identify suitable optimizer–activation combinations.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0F3846-F4FD-61F1-1BB0-205C10B00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86" y="1354934"/>
                <a:ext cx="8158432" cy="4524315"/>
              </a:xfrm>
              <a:prstGeom prst="rect">
                <a:avLst/>
              </a:prstGeom>
              <a:blipFill>
                <a:blip r:embed="rId3"/>
                <a:stretch>
                  <a:fillRect l="-523" t="-674" r="-1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547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517351" y="299965"/>
            <a:ext cx="3567113" cy="42068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PK" sz="28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29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7EE9E8-89B6-DD05-A191-22AA8C4CB7DF}"/>
              </a:ext>
            </a:extLst>
          </p:cNvPr>
          <p:cNvSpPr txBox="1"/>
          <p:nvPr/>
        </p:nvSpPr>
        <p:spPr>
          <a:xfrm>
            <a:off x="746449" y="720654"/>
            <a:ext cx="10073951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P.-F. Verhulst, "Notice sur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population suit dans son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accroissement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Correspondance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Mathématique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Physique,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10, pp. 113-121, 1838.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X.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Glorot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Y. Bengio, "Understanding the difficulty of training deep feedforward neural networks,"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Thirteenth International Conference on Artificial Intelligence and Statistics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2010.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V. Nair and G. E. Hinton, "Rectified linear units improve restricted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boltzmann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machines,"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27th International Conference on International Conference on Machine Learning (ICML'10)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2010.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A. . L. Maas and A. Y.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Hannun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"Rectifier Nonlinearities Improve Neural Network Acoustic Models,"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30th International Conference on Machine Learning (ICML),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28, pp. 3-6, 2013</a:t>
            </a:r>
            <a:r>
              <a:rPr lang="en-US" dirty="0"/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He, X. Zhang, S. Ren and J. Sun, "Delving Deep into Rectifiers: Surpassing Human-Level Performance on ImageNet Classification,"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 IEEE International Conference on Computer Vision (ICCV), Santiago, Chile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2015.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Clevert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Unterthiner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Hochreiter, "Fast and Accurate Deep Network Learning by Exponential Linear Units (ELUs),"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 2016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Klambauer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Unterthiner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Mayr and S. Hochreiter, "Self-Normalizing Neural Networks,"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30, pp. 971-980, 2017.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D. Hendrycks and K. Gimpel, "Gaussian Error Linear Units (GELUs),"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84, 2016.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Elfwing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. 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Uchibe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.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"Sigmoid-weighted linear units for neural network function approximation in reinforcement learning,"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107, pp. 3-11, 2018.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Ramachandran, 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Q. V. Le, "Searching for Activation Functions,"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International Conference on Learning Representations (ICLR),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5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BE69-F388-4771-AAF1-9A6593207A3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517351" y="299965"/>
            <a:ext cx="3567113" cy="42068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PK" sz="28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599" y="1654523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F634A-99C2-AE4A-83D1-D876356B977C}"/>
              </a:ext>
            </a:extLst>
          </p:cNvPr>
          <p:cNvSpPr txBox="1"/>
          <p:nvPr/>
        </p:nvSpPr>
        <p:spPr>
          <a:xfrm>
            <a:off x="746450" y="580695"/>
            <a:ext cx="10073951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D. Misra, "Mish: A Self Regularized Non-Monotonic Activation Function,"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British Machine Vision Conference (BMVC)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. X. Liu and . X. Di,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smooth activation function with high convergence speed for lightweight neural networks,"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IET Computer Vision,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15, no. 2, pp. 136-150, 2021.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Kiliçarslan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RSigELU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nonlinear activation function for deep neural networks,"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174, pp. 9-12, July 2021.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R. Kumar,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APTx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Better Activation Function than MISH, SWISH,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Variants used in Deep Learning,"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Artificial Intelligence and Machine Learning,,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02, pp. 56-61, 2022.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S. Zhang and G. Ren,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RoSwish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novel Rotating Swish activation function with adaptive rotation around zero,"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192, 2025.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Doğay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"Development of Deep Learning Optimizers: Approaches, Concepts, and Update Rules,"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arXiv:2509.18396,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A. Fernandez,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for fast and stable deep learning," University of South Florida, 2024.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G. Huang, . Z. Liu, v. d. M. Laurens and K. Q. Weinberger, "Densely connected convolutional networks," 2018.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Sherstinsky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"Fundamentals of recurrent neural network (rnn) and long short-term memory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net,"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 D: Nonlinear Phenomena,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404, p. 132306, 2020.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A. Gholami, K. Kwon, B. Wu, Z. Tai, X. Yue, P. Jin, . S. Zhao and K. Keutzer,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Hardware-aware neural network design,"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abs/1803.10615, 2018.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H. Kaiming , Z. Xiangyu, S. Ren and S. Jian, "Deep Residual Learning for Image Recognition,"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IEEE Conference on Computer Vision and Pattern Recognition (CVPR), Las Vegas, NV, USA,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770-778, 2016.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02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9737-D172-A01B-E750-814CB7DC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1DDF-A240-6392-6309-9FA467D9DAE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517351" y="299965"/>
            <a:ext cx="3567113" cy="42068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PK" sz="2800" dirty="0">
              <a:latin typeface="Sitka Heading Semibold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EB494DC-9B17-1B84-3AA2-90E4606C4B12}"/>
              </a:ext>
            </a:extLst>
          </p:cNvPr>
          <p:cNvSpPr txBox="1">
            <a:spLocks/>
          </p:cNvSpPr>
          <p:nvPr/>
        </p:nvSpPr>
        <p:spPr>
          <a:xfrm>
            <a:off x="1371599" y="1654523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A46AE-11DE-164F-D10A-22B9B44E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3EECA7-4170-7B9C-C7DE-28AE26AA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DDCB3-E368-BE79-B72E-984128F93D8A}"/>
              </a:ext>
            </a:extLst>
          </p:cNvPr>
          <p:cNvSpPr txBox="1"/>
          <p:nvPr/>
        </p:nvSpPr>
        <p:spPr>
          <a:xfrm>
            <a:off x="740700" y="596033"/>
            <a:ext cx="1007395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Terven, J., Cordova-Esparza, DM., Romero-González, JA.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comprehensive survey of loss functions and metrics in deep learning.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 Rev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195 (2025).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</a:t>
            </a:r>
            <a:r>
              <a:rPr lang="en-US" dirty="0">
                <a:solidFill>
                  <a:srgbClr val="5F5F5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s10462-025-11198-7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 Xiao, Kashif Rasul and Roland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Vollgraf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"Fashion-MNIST: a Novel Image Dataset for Benchmarking Machine Learning Algorithms,"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arXiv:1708.07747,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2017.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Krizhevsky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"Learning Multiple Layers of Features from Tiny Images," Technical Report TR-2009, University of Toronto, 2009.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 Mitchell P. Marcus, Beatrice Santorini and M. A. Marcinkiewicz, "Building a Large Annotated Corpus of English: The Penn Treebank," Computational Linguistics, vol. 19, p. 313–330, 1993.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Le, Ya and Yang and Xuan, "Tiny ImageNet Visual Recognition Challenge,"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Stanford University, CS231N,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2015.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Teboul, "www.kaggle.com," Diabetes Health Indicators Dataset, 2021. [Online].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[28]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 Bengio, Y. Courville, A. Bengio and Y. , Deep learning, MIT press Cambridge, 2016.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[29]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Huang, . Z. Liu, v. d. M. Laurens and K. Q. Weinberger, "Densely connected convolutional networks," 2018.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[30]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Sherstinsky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"Fundamentals of recurrent neural network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long short-term memory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net," Physica D: Nonlinear Phenomena, vol. 404, p. 132306, 2020.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[31] A. Gholami, K. Kwon, B. Wu, Z. Tai, X. Yue, P. Jin, . S. Zhao and K. Keutzer,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Hardware-aware neural network design,"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abs/1803.10615, 2018.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[32] . H. Kaiming, . Z. Xiangyu and R. Shaoqing , "Deep Residual Learning for Image Recognition," 2016 IEEE Conference on Computer Vision and Pattern Recognition (CVPR), Las Vegas, NV, USA, pp. 770-778, 2016.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[33] https://www.kaggle.com/datasets/alexteboul/diabetes-health-indicators-dataset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495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F41A947-AAF2-4510-AFF3-0848D3D3FEDC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F09835-0A37-4FD5-A02D-37C39807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F37289-6A50-438D-84DA-08F175A41B29}"/>
              </a:ext>
            </a:extLst>
          </p:cNvPr>
          <p:cNvSpPr txBox="1"/>
          <p:nvPr/>
        </p:nvSpPr>
        <p:spPr>
          <a:xfrm>
            <a:off x="3702424" y="2797692"/>
            <a:ext cx="4031837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 algn="ctr">
              <a:lnSpc>
                <a:spcPct val="150000"/>
              </a:lnSpc>
            </a:pPr>
            <a:endParaRPr lang="en-US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42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0C7D4-8023-7818-A34A-5BEF759B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6C2EF9C-0766-29F2-36A6-76B5F112B2ED}"/>
              </a:ext>
            </a:extLst>
          </p:cNvPr>
          <p:cNvSpPr txBox="1">
            <a:spLocks/>
          </p:cNvSpPr>
          <p:nvPr/>
        </p:nvSpPr>
        <p:spPr>
          <a:xfrm>
            <a:off x="1371600" y="1614767"/>
            <a:ext cx="5074843" cy="375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4195" marR="633730" indent="671830">
              <a:spcAft>
                <a:spcPts val="0"/>
              </a:spcAft>
            </a:pPr>
            <a:endParaRPr lang="en-PK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D643D-6166-A9A6-1F4F-FC0EB9EEE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274" y="507059"/>
            <a:ext cx="1695750" cy="847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CFAE28-F5E3-8322-F270-CB7BF9948557}"/>
              </a:ext>
            </a:extLst>
          </p:cNvPr>
          <p:cNvSpPr txBox="1"/>
          <p:nvPr/>
        </p:nvSpPr>
        <p:spPr>
          <a:xfrm>
            <a:off x="3702424" y="2797692"/>
            <a:ext cx="4031837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>
              <a:lnSpc>
                <a:spcPct val="150000"/>
              </a:lnSpc>
            </a:pPr>
            <a:endParaRPr lang="en-US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31D6C4-132B-E484-F7B3-18C1EC96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74518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{148A32C1-07C5-45B9-89FA-E9F40CA4F688}TFc3084226-2d0c-440f-9f46-6b48c7a7f670e6ba4a85-fc4a2881d6b3</Template>
  <TotalTime>17925</TotalTime>
  <Words>3517</Words>
  <Application>Microsoft Office PowerPoint</Application>
  <PresentationFormat>Widescreen</PresentationFormat>
  <Paragraphs>370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Cambria</vt:lpstr>
      <vt:lpstr>Cambria Math</vt:lpstr>
      <vt:lpstr>Franklin Gothic Book</vt:lpstr>
      <vt:lpstr>Sitka Heading Semibold</vt:lpstr>
      <vt:lpstr>Times New Roman</vt:lpstr>
      <vt:lpstr>Wingdings</vt:lpstr>
      <vt:lpstr>Crop</vt:lpstr>
      <vt:lpstr>A Generalized Tangent Hyperbolic Exponential Activation Function with a Variable Exponential Base for Deep Neural Networks </vt:lpstr>
      <vt:lpstr>Presentation Outline</vt:lpstr>
      <vt:lpstr>Introduction and Background</vt:lpstr>
      <vt:lpstr>Background  </vt:lpstr>
      <vt:lpstr>Background </vt:lpstr>
      <vt:lpstr>Background </vt:lpstr>
      <vt:lpstr>Background </vt:lpstr>
      <vt:lpstr>PowerPoint Presentation</vt:lpstr>
      <vt:lpstr>MOTIVATION </vt:lpstr>
      <vt:lpstr>Literature review</vt:lpstr>
      <vt:lpstr>PowerPoint Presentation</vt:lpstr>
      <vt:lpstr>PowerPoint Presentation</vt:lpstr>
      <vt:lpstr>PowerPoint Presentation</vt:lpstr>
      <vt:lpstr>Research gaps identified</vt:lpstr>
      <vt:lpstr>Problem statement </vt:lpstr>
      <vt:lpstr>Objectives of the research study</vt:lpstr>
      <vt:lpstr>Research Questions</vt:lpstr>
      <vt:lpstr>methodology</vt:lpstr>
      <vt:lpstr>Data Source</vt:lpstr>
      <vt:lpstr>Sample size</vt:lpstr>
      <vt:lpstr>Fashion MNEST</vt:lpstr>
      <vt:lpstr>CIFAR-10 Dense Net</vt:lpstr>
      <vt:lpstr>Penn tree bank rnn</vt:lpstr>
      <vt:lpstr>Cifar-100  Squeeze next</vt:lpstr>
      <vt:lpstr>Tiny image resnet</vt:lpstr>
      <vt:lpstr>CDC Diabetes Health Indicators dataset</vt:lpstr>
      <vt:lpstr>Expected Results &amp; Contribution</vt:lpstr>
      <vt:lpstr>discussion</vt:lpstr>
      <vt:lpstr>REFERENCES</vt:lpstr>
      <vt:lpstr>REFERENCES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THE IMPACT OF SCOPE CREEP IN CLOUD-BASED ENTERPRISE RESOURCE PLANNING SYSTEMS IN THE PHARMACEUTICAL INDUSTRY</dc:title>
  <dc:creator>Ferva Jafar</dc:creator>
  <cp:lastModifiedBy>Muhammad Arif</cp:lastModifiedBy>
  <cp:revision>701</cp:revision>
  <dcterms:created xsi:type="dcterms:W3CDTF">2025-09-30T07:45:00Z</dcterms:created>
  <dcterms:modified xsi:type="dcterms:W3CDTF">2026-10-17T01:02:25Z</dcterms:modified>
</cp:coreProperties>
</file>